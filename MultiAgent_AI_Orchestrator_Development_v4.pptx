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0" r:id="rId4"/>
    <p:sldId id="260" r:id="rId5"/>
    <p:sldId id="296" r:id="rId6"/>
    <p:sldId id="292" r:id="rId7"/>
    <p:sldId id="282" r:id="rId8"/>
    <p:sldId id="266" r:id="rId9"/>
    <p:sldId id="291" r:id="rId10"/>
    <p:sldId id="272" r:id="rId11"/>
    <p:sldId id="290" r:id="rId12"/>
    <p:sldId id="283" r:id="rId13"/>
    <p:sldId id="295" r:id="rId14"/>
    <p:sldId id="284" r:id="rId15"/>
    <p:sldId id="269" r:id="rId16"/>
    <p:sldId id="288" r:id="rId17"/>
    <p:sldId id="270" r:id="rId18"/>
    <p:sldId id="289" r:id="rId19"/>
    <p:sldId id="285" r:id="rId20"/>
    <p:sldId id="287" r:id="rId21"/>
    <p:sldId id="300" r:id="rId22"/>
    <p:sldId id="286" r:id="rId23"/>
    <p:sldId id="298" r:id="rId24"/>
    <p:sldId id="29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C24913-C404-D9D8-6F97-79EB176F1E29}" v="458" dt="2026-07-17T05:44:21.523"/>
    <p1510:client id="{74A0301A-1DA5-615C-9DB7-2B1DA0BC9B94}" v="15" dt="2026-07-17T04:38:29.1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45281-2282-CEC8-EDFC-42649287D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A7812F-61EA-1096-4C47-91070CF88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37E7B-3023-BAA6-1229-F06BB2CF4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2C146-EF68-4428-6F43-77126FC973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070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-640080"/>
            <a:ext cx="3474720" cy="347472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3108960" cy="384048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6" name="Text 4"/>
          <p:cNvSpPr/>
          <p:nvPr/>
        </p:nvSpPr>
        <p:spPr>
          <a:xfrm>
            <a:off x="502920" y="128016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 SOLUTION CATALOG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913632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D3EE"/>
                </a:solidFill>
              </a:rPr>
              <a:t>Smart AI helpers that build software faster, with fewer mistakes.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617720"/>
            <a:ext cx="2468880" cy="1097280"/>
          </a:xfrm>
          <a:prstGeom prst="rect">
            <a:avLst/>
          </a:prstGeom>
          <a:solidFill>
            <a:srgbClr val="1A2E45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46634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Fewer Bugs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5212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Better Quality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4617720"/>
            <a:ext cx="2468880" cy="1097280"/>
          </a:xfrm>
          <a:prstGeom prst="rect">
            <a:avLst/>
          </a:prstGeom>
          <a:solidFill>
            <a:srgbClr val="1A2E45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46634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22D3EE"/>
                </a:solidFill>
                <a:ea typeface="Calibri"/>
                <a:cs typeface="Calibri"/>
              </a:rPr>
              <a:t>6</a:t>
            </a:r>
            <a:endParaRPr lang="en-US" sz="2800" b="1" dirty="0">
              <a:solidFill>
                <a:srgbClr val="22D3EE"/>
              </a:solidFill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91840" y="5212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CBD5E1"/>
                </a:solidFill>
              </a:rPr>
              <a:t>Expert AI SKILLs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4617720"/>
            <a:ext cx="2468880" cy="1097280"/>
          </a:xfrm>
          <a:prstGeom prst="rect">
            <a:avLst/>
          </a:prstGeom>
          <a:solidFill>
            <a:srgbClr val="1A2E45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46634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5 min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5212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Setup Time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61120" y="4617720"/>
            <a:ext cx="2468880" cy="1097280"/>
          </a:xfrm>
          <a:prstGeom prst="rect">
            <a:avLst/>
          </a:prstGeom>
          <a:solidFill>
            <a:srgbClr val="1A2E45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0" y="46634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Full Trace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961120" y="5212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>
                <a:solidFill>
                  <a:srgbClr val="CBD5E1"/>
                </a:solidFill>
              </a:rPr>
              <a:t>From Plan to Code and Testing</a:t>
            </a:r>
            <a:endParaRPr lang="en-US" sz="10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9601200" y="2286000"/>
            <a:ext cx="2194560" cy="21945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SOLUTION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48640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91440" cy="13716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7" name="Text 5"/>
          <p:cNvSpPr/>
          <p:nvPr/>
        </p:nvSpPr>
        <p:spPr>
          <a:xfrm>
            <a:off x="502920" y="1042416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Solution Name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Multi-Agent AI Orchestrator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(A Simple Prompt System for VS Code Copilot)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505456"/>
            <a:ext cx="5486400" cy="126187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505456"/>
            <a:ext cx="91440" cy="126187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1" name="Text 9"/>
          <p:cNvSpPr/>
          <p:nvPr/>
        </p:nvSpPr>
        <p:spPr>
          <a:xfrm>
            <a:off x="502920" y="2542032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Category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852928"/>
            <a:ext cx="52120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Helps Developers Work Faster  |  Automates Daily Tasks  |  Understands Code Better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3886200"/>
            <a:ext cx="5486400" cy="153619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886200"/>
            <a:ext cx="91440" cy="153619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15" name="Text 13"/>
          <p:cNvSpPr/>
          <p:nvPr/>
        </p:nvSpPr>
        <p:spPr>
          <a:xfrm>
            <a:off x="502920" y="3922776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Who This Is For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270248"/>
            <a:ext cx="5212080" cy="10607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Software development teams &amp; system integrators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005840"/>
            <a:ext cx="5806440" cy="4846320"/>
          </a:xfrm>
          <a:prstGeom prst="rect">
            <a:avLst/>
          </a:prstGeom>
          <a:solidFill>
            <a:srgbClr val="0D1B2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1133856"/>
            <a:ext cx="5532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In Simple Words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1481328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</a:rPr>
              <a:t>"AI often forgets things mid-task. Our system fixes that -- it sends every task straight to the right expert AI, every time."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2980944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</a:rPr>
              <a:t>6 Core Agents  |  6 Action Tags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</a:rPr>
              <a:t>No Mixed-Up Tasks  |  Always Checks Before It Reads</a:t>
            </a:r>
            <a:endParaRPr lang="en-US" sz="12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9875520" y="3566160"/>
            <a:ext cx="1463040" cy="1463040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11704320" y="6537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  <p:sp>
        <p:nvSpPr>
          <p:cNvPr id="901" name="chip901"/>
          <p:cNvSpPr/>
          <p:nvPr/>
        </p:nvSpPr>
        <p:spPr>
          <a:xfrm>
            <a:off x="6172200" y="3977640"/>
            <a:ext cx="850000" cy="329184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902" name="lbl902"/>
          <p:cNvSpPr/>
          <p:nvPr/>
        </p:nvSpPr>
        <p:spPr>
          <a:xfrm>
            <a:off x="6172200" y="3977640"/>
            <a:ext cx="850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D3EE"/>
                </a:solidFill>
              </a:rPr>
              <a:t>[Req-Analysis]</a:t>
            </a:r>
          </a:p>
        </p:txBody>
      </p:sp>
      <p:sp>
        <p:nvSpPr>
          <p:cNvPr id="903" name="lbl903"/>
          <p:cNvSpPr/>
          <p:nvPr/>
        </p:nvSpPr>
        <p:spPr>
          <a:xfrm>
            <a:off x="6172200" y="4434840"/>
            <a:ext cx="850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Req. Analysis</a:t>
            </a:r>
          </a:p>
        </p:txBody>
      </p:sp>
      <p:sp>
        <p:nvSpPr>
          <p:cNvPr id="904" name="chip904"/>
          <p:cNvSpPr/>
          <p:nvPr/>
        </p:nvSpPr>
        <p:spPr>
          <a:xfrm>
            <a:off x="7086600" y="3977640"/>
            <a:ext cx="850000" cy="329184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905" name="lbl905"/>
          <p:cNvSpPr/>
          <p:nvPr/>
        </p:nvSpPr>
        <p:spPr>
          <a:xfrm>
            <a:off x="7086600" y="3977640"/>
            <a:ext cx="850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D3EE"/>
                </a:solidFill>
              </a:rPr>
              <a:t>[CR]</a:t>
            </a:r>
          </a:p>
        </p:txBody>
      </p:sp>
      <p:sp>
        <p:nvSpPr>
          <p:cNvPr id="906" name="lbl906"/>
          <p:cNvSpPr/>
          <p:nvPr/>
        </p:nvSpPr>
        <p:spPr>
          <a:xfrm>
            <a:off x="7086600" y="4434840"/>
            <a:ext cx="850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Development</a:t>
            </a:r>
          </a:p>
        </p:txBody>
      </p:sp>
      <p:sp>
        <p:nvSpPr>
          <p:cNvPr id="907" name="chip907"/>
          <p:cNvSpPr/>
          <p:nvPr/>
        </p:nvSpPr>
        <p:spPr>
          <a:xfrm>
            <a:off x="8001000" y="3977640"/>
            <a:ext cx="850000" cy="329184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908" name="lbl908"/>
          <p:cNvSpPr/>
          <p:nvPr/>
        </p:nvSpPr>
        <p:spPr>
          <a:xfrm>
            <a:off x="8001000" y="3977640"/>
            <a:ext cx="850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D3EE"/>
                </a:solidFill>
              </a:rPr>
              <a:t>[Bug]</a:t>
            </a:r>
          </a:p>
        </p:txBody>
      </p:sp>
      <p:sp>
        <p:nvSpPr>
          <p:cNvPr id="909" name="lbl909"/>
          <p:cNvSpPr/>
          <p:nvPr/>
        </p:nvSpPr>
        <p:spPr>
          <a:xfrm>
            <a:off x="8001000" y="4434840"/>
            <a:ext cx="850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Development</a:t>
            </a:r>
          </a:p>
        </p:txBody>
      </p:sp>
      <p:sp>
        <p:nvSpPr>
          <p:cNvPr id="910" name="chip910"/>
          <p:cNvSpPr/>
          <p:nvPr/>
        </p:nvSpPr>
        <p:spPr>
          <a:xfrm>
            <a:off x="8915400" y="3977640"/>
            <a:ext cx="850000" cy="329184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911" name="lbl911"/>
          <p:cNvSpPr/>
          <p:nvPr/>
        </p:nvSpPr>
        <p:spPr>
          <a:xfrm>
            <a:off x="8915400" y="3977640"/>
            <a:ext cx="850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D3EE"/>
                </a:solidFill>
              </a:rPr>
              <a:t>[Review]</a:t>
            </a:r>
          </a:p>
        </p:txBody>
      </p:sp>
      <p:sp>
        <p:nvSpPr>
          <p:cNvPr id="912" name="lbl912"/>
          <p:cNvSpPr/>
          <p:nvPr/>
        </p:nvSpPr>
        <p:spPr>
          <a:xfrm>
            <a:off x="8915400" y="4434840"/>
            <a:ext cx="850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Development</a:t>
            </a:r>
          </a:p>
        </p:txBody>
      </p:sp>
      <p:sp>
        <p:nvSpPr>
          <p:cNvPr id="913" name="chip913"/>
          <p:cNvSpPr/>
          <p:nvPr/>
        </p:nvSpPr>
        <p:spPr>
          <a:xfrm>
            <a:off x="9829800" y="3977640"/>
            <a:ext cx="850000" cy="329184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914" name="lbl914"/>
          <p:cNvSpPr/>
          <p:nvPr/>
        </p:nvSpPr>
        <p:spPr>
          <a:xfrm>
            <a:off x="9829800" y="3977640"/>
            <a:ext cx="850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D3EE"/>
                </a:solidFill>
              </a:rPr>
              <a:t>[BAT]</a:t>
            </a:r>
          </a:p>
        </p:txBody>
      </p:sp>
      <p:sp>
        <p:nvSpPr>
          <p:cNvPr id="915" name="lbl915"/>
          <p:cNvSpPr/>
          <p:nvPr/>
        </p:nvSpPr>
        <p:spPr>
          <a:xfrm>
            <a:off x="9829800" y="4434840"/>
            <a:ext cx="850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Testing</a:t>
            </a:r>
          </a:p>
        </p:txBody>
      </p:sp>
      <p:sp>
        <p:nvSpPr>
          <p:cNvPr id="916" name="chip916"/>
          <p:cNvSpPr/>
          <p:nvPr/>
        </p:nvSpPr>
        <p:spPr>
          <a:xfrm>
            <a:off x="10744200" y="3977640"/>
            <a:ext cx="850000" cy="329184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917" name="lbl917"/>
          <p:cNvSpPr/>
          <p:nvPr/>
        </p:nvSpPr>
        <p:spPr>
          <a:xfrm>
            <a:off x="10744200" y="3977640"/>
            <a:ext cx="850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D3EE"/>
                </a:solidFill>
              </a:rPr>
              <a:t>[Unit Test]</a:t>
            </a:r>
          </a:p>
        </p:txBody>
      </p:sp>
      <p:sp>
        <p:nvSpPr>
          <p:cNvPr id="918" name="lbl918"/>
          <p:cNvSpPr/>
          <p:nvPr/>
        </p:nvSpPr>
        <p:spPr>
          <a:xfrm>
            <a:off x="10744200" y="4434840"/>
            <a:ext cx="850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-640080"/>
            <a:ext cx="3474720" cy="347472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3108960" cy="384048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6" name="Text 4"/>
          <p:cNvSpPr/>
          <p:nvPr/>
        </p:nvSpPr>
        <p:spPr>
          <a:xfrm>
            <a:off x="502920" y="128016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 1 OF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913632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D3EE"/>
                </a:solidFill>
              </a:rPr>
              <a:t>We turn the client's requirements into clear documents -- before writing any code.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617720"/>
            <a:ext cx="2468880" cy="1097280"/>
          </a:xfrm>
          <a:prstGeom prst="rect">
            <a:avLst/>
          </a:prstGeom>
          <a:solidFill>
            <a:srgbClr val="1A2E45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46634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SRS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5212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Requirement Document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4617720"/>
            <a:ext cx="2468880" cy="1097280"/>
          </a:xfrm>
          <a:prstGeom prst="rect">
            <a:avLst/>
          </a:prstGeom>
          <a:solidFill>
            <a:srgbClr val="1A2E45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46634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WBS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5212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Task Breakdown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4617720"/>
            <a:ext cx="2468880" cy="1097280"/>
          </a:xfrm>
          <a:prstGeom prst="rect">
            <a:avLst/>
          </a:prstGeom>
          <a:solidFill>
            <a:srgbClr val="1A2E45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46634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Skill File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5212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Project Notes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61120" y="4617720"/>
            <a:ext cx="2468880" cy="1097280"/>
          </a:xfrm>
          <a:prstGeom prst="rect">
            <a:avLst/>
          </a:prstGeom>
          <a:solidFill>
            <a:srgbClr val="1A2E45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0" y="46634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3 Rounds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961120" y="5212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Double-Checked by 2 Agents</a:t>
            </a:r>
          </a:p>
          <a:p>
            <a:pPr algn="ctr"/>
            <a:r>
              <a:rPr lang="en-US" sz="1000">
                <a:solidFill>
                  <a:srgbClr val="CBD5E1"/>
                </a:solidFill>
                <a:ea typeface="Calibri"/>
                <a:cs typeface="Calibri"/>
              </a:rPr>
              <a:t>(Analyst &amp; Reviewer)</a:t>
            </a:r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9601200" y="2286000"/>
            <a:ext cx="2194560" cy="21945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Shape 2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Text 3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[Req-Analysis]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93392" y="0"/>
            <a:ext cx="7132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Requirement Analyst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469880" y="91440"/>
            <a:ext cx="566928" cy="5669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10469880" y="91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1/5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10" name="Text 8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/req-analysis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950976"/>
            <a:ext cx="11521440" cy="420624"/>
          </a:xfrm>
          <a:prstGeom prst="rect">
            <a:avLst/>
          </a:prstGeom>
          <a:solidFill>
            <a:srgbClr val="F59E0B">
              <a:alpha val="1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57200" y="950976"/>
            <a:ext cx="11338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2A"/>
                </a:solidFill>
              </a:rPr>
              <a:t>Overview: The [Req-Analysis] tag hires the Requirement Analyst -- a 3-agent pipeline (Maturity Assessor, Analyst, Reviewer) that turns raw requirement files into a clear SRS, a task list (WBS), and a reusable project skill file.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481328"/>
            <a:ext cx="548640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481328"/>
            <a:ext cx="5486400" cy="54864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32688" y="1618488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9768" y="2157984"/>
            <a:ext cx="329184" cy="32918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8" name="Text 15"/>
          <p:cNvSpPr/>
          <p:nvPr/>
        </p:nvSpPr>
        <p:spPr>
          <a:xfrm>
            <a:off x="429768" y="21579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50392" y="21488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Reads the attached files (Excel, Word, PDF, or image)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29768" y="2615184"/>
            <a:ext cx="329184" cy="32918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1" name="Text 18"/>
          <p:cNvSpPr/>
          <p:nvPr/>
        </p:nvSpPr>
        <p:spPr>
          <a:xfrm>
            <a:off x="429768" y="26151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50392" y="26060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0D1B2A"/>
                </a:solidFill>
                <a:ea typeface="Calibri"/>
                <a:cs typeface="Calibri"/>
              </a:rPr>
              <a:t>Analyst drafts the SRS; Reviewer checks it and fixes gaps</a:t>
            </a:r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29768" y="3072384"/>
            <a:ext cx="329184" cy="32918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4" name="Text 21"/>
          <p:cNvSpPr/>
          <p:nvPr/>
        </p:nvSpPr>
        <p:spPr>
          <a:xfrm>
            <a:off x="429768" y="30723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50392" y="30632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0D1B2A"/>
                </a:solidFill>
                <a:ea typeface="Calibri"/>
                <a:cs typeface="Calibri"/>
              </a:rPr>
              <a:t>Maturity Assessor checks the requirements are clear enough</a:t>
            </a:r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29768" y="3529584"/>
            <a:ext cx="329184" cy="32918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7" name="Text 24"/>
          <p:cNvSpPr/>
          <p:nvPr/>
        </p:nvSpPr>
        <p:spPr>
          <a:xfrm>
            <a:off x="429768" y="35295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50392" y="35204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If anything is unclear, you get a maturity report to decide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9768" y="3986784"/>
            <a:ext cx="329184" cy="32918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0" name="Text 27"/>
          <p:cNvSpPr/>
          <p:nvPr/>
        </p:nvSpPr>
        <p:spPr>
          <a:xfrm>
            <a:off x="429768" y="39867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50392" y="39776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Exports the SRS, WBS, and a reusable project skill file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3192" y="6108192"/>
            <a:ext cx="5321808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3" name="Text 30"/>
          <p:cNvSpPr/>
          <p:nvPr/>
        </p:nvSpPr>
        <p:spPr>
          <a:xfrm>
            <a:off x="457200" y="6108192"/>
            <a:ext cx="51937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Result: SRS + WBS + project skill file, ready to build from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035040" y="1481328"/>
            <a:ext cx="580644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035040" y="1481328"/>
            <a:ext cx="580644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6" name="Text 33"/>
          <p:cNvSpPr/>
          <p:nvPr/>
        </p:nvSpPr>
        <p:spPr>
          <a:xfrm>
            <a:off x="6172200" y="1600200"/>
            <a:ext cx="5532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Key Benefits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172200" y="2011680"/>
            <a:ext cx="5532120" cy="4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Turns raw files into a ready SRS and WBS -- in one step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A 3-agent pipeline double-checks the work, so nothing is missed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A maturity gate flags unclear requirements before any SRS is written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Can cross-check the requirements against the existing codebase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The project skill file speeds up every future tagged prompt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1704320" y="6537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Shape 2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Text 3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[Req-Analysis]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93392" y="0"/>
            <a:ext cx="7132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Requirement Analysis -- Full Flow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469880" y="91440"/>
            <a:ext cx="566928" cy="5669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10469880" y="91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flow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10" name="Text 8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/req-analysis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950976"/>
            <a:ext cx="11521440" cy="420624"/>
          </a:xfrm>
          <a:prstGeom prst="rect">
            <a:avLst/>
          </a:prstGeom>
          <a:solidFill>
            <a:srgbClr val="F59E0B">
              <a:alpha val="1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57200" y="950976"/>
            <a:ext cx="11338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2A"/>
                </a:solidFill>
              </a:rPr>
              <a:t>The full [Req-Analysis] flow: analyze, review, and gate on maturity -- looping back until the requirements are ready, then export.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704320" y="6537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  <p:sp>
        <p:nvSpPr>
          <p:cNvPr id="901" name="fx901"/>
          <p:cNvSpPr/>
          <p:nvPr/>
        </p:nvSpPr>
        <p:spPr>
          <a:xfrm>
            <a:off x="4200000" y="1480000"/>
            <a:ext cx="2600000" cy="560000"/>
          </a:xfrm>
          <a:prstGeom prst="roundRect">
            <a:avLst/>
          </a:prstGeom>
          <a:solidFill>
            <a:srgbClr val="0D1B2A"/>
          </a:solidFill>
          <a:effectLst>
            <a:outerShdw blurRad="70000" dist="250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02" name="ft902"/>
          <p:cNvSpPr/>
          <p:nvPr/>
        </p:nvSpPr>
        <p:spPr>
          <a:xfrm>
            <a:off x="4200000" y="1480000"/>
            <a:ext cx="2600000" cy="560000"/>
          </a:xfrm>
          <a:prstGeom prst="rect">
            <a:avLst/>
          </a:prstGeom>
          <a:noFill/>
        </p:spPr>
        <p:txBody>
          <a:bodyPr wrap="square" lIns="30000" tIns="0" rIns="30000" bIns="0" rtlCol="0" anchor="ctr"/>
          <a:lstStyle/>
          <a:p>
            <a:pPr marL="0" indent="0" algn="ctr">
              <a:spcAft>
                <a:spcPts val="50"/>
              </a:spcAft>
              <a:buNone/>
            </a:pPr>
            <a:r>
              <a:rPr lang="en-US" sz="1100" b="1" dirty="0">
                <a:solidFill>
                  <a:srgbClr val="FFFFFF"/>
                </a:solidFill>
              </a:rPr>
              <a:t>Req-Analysis</a:t>
            </a:r>
          </a:p>
          <a:p>
            <a:pPr marL="0" indent="0" algn="ctr">
              <a:buNone/>
            </a:pPr>
            <a:r>
              <a:rPr lang="en-US" sz="830" dirty="0">
                <a:solidFill>
                  <a:srgbClr val="94A3B8"/>
                </a:solidFill>
              </a:rPr>
              <a:t>reads the attached files</a:t>
            </a:r>
          </a:p>
        </p:txBody>
      </p:sp>
      <p:sp>
        <p:nvSpPr>
          <p:cNvPr id="903" name="fx903"/>
          <p:cNvSpPr/>
          <p:nvPr/>
        </p:nvSpPr>
        <p:spPr>
          <a:xfrm>
            <a:off x="4200000" y="2360000"/>
            <a:ext cx="2600000" cy="560000"/>
          </a:xfrm>
          <a:prstGeom prst="roundRect">
            <a:avLst/>
          </a:prstGeom>
          <a:solidFill>
            <a:srgbClr val="10B981"/>
          </a:solidFill>
          <a:effectLst>
            <a:outerShdw blurRad="70000" dist="250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04" name="ft904"/>
          <p:cNvSpPr/>
          <p:nvPr/>
        </p:nvSpPr>
        <p:spPr>
          <a:xfrm>
            <a:off x="4200000" y="2360000"/>
            <a:ext cx="2600000" cy="560000"/>
          </a:xfrm>
          <a:prstGeom prst="rect">
            <a:avLst/>
          </a:prstGeom>
          <a:noFill/>
        </p:spPr>
        <p:txBody>
          <a:bodyPr wrap="square" lIns="30000" tIns="0" rIns="30000" bIns="0" rtlCol="0" anchor="ctr"/>
          <a:lstStyle/>
          <a:p>
            <a:pPr marL="0" indent="0" algn="ctr">
              <a:spcAft>
                <a:spcPts val="50"/>
              </a:spcAft>
              <a:buNone/>
            </a:pPr>
            <a:r>
              <a:rPr lang="en-US" sz="1100" b="1">
                <a:solidFill>
                  <a:srgbClr val="FFFFFF"/>
                </a:solidFill>
              </a:rPr>
              <a:t>Analyst</a:t>
            </a:r>
            <a:endParaRPr lang="en-US" sz="1100" b="1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sz="830" dirty="0">
                <a:solidFill>
                  <a:srgbClr val="E6FFFB"/>
                </a:solidFill>
              </a:rPr>
              <a:t>drafts the SRS</a:t>
            </a:r>
          </a:p>
        </p:txBody>
      </p:sp>
      <p:sp>
        <p:nvSpPr>
          <p:cNvPr id="905" name="fx905"/>
          <p:cNvSpPr/>
          <p:nvPr/>
        </p:nvSpPr>
        <p:spPr>
          <a:xfrm>
            <a:off x="4200000" y="3240000"/>
            <a:ext cx="2600000" cy="560000"/>
          </a:xfrm>
          <a:prstGeom prst="roundRect">
            <a:avLst/>
          </a:prstGeom>
          <a:solidFill>
            <a:srgbClr val="10B981"/>
          </a:solidFill>
          <a:effectLst>
            <a:outerShdw blurRad="70000" dist="250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06" name="ft906"/>
          <p:cNvSpPr/>
          <p:nvPr/>
        </p:nvSpPr>
        <p:spPr>
          <a:xfrm>
            <a:off x="4200000" y="3240000"/>
            <a:ext cx="2600000" cy="560000"/>
          </a:xfrm>
          <a:prstGeom prst="rect">
            <a:avLst/>
          </a:prstGeom>
          <a:noFill/>
        </p:spPr>
        <p:txBody>
          <a:bodyPr wrap="square" lIns="30000" tIns="0" rIns="30000" bIns="0" rtlCol="0" anchor="ctr"/>
          <a:lstStyle/>
          <a:p>
            <a:pPr marL="0" indent="0" algn="ctr">
              <a:spcAft>
                <a:spcPts val="50"/>
              </a:spcAft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Reviewer</a:t>
            </a:r>
          </a:p>
          <a:p>
            <a:pPr marL="0" indent="0" algn="ctr">
              <a:buNone/>
            </a:pPr>
            <a:r>
              <a:rPr lang="en-US" sz="830" dirty="0">
                <a:solidFill>
                  <a:srgbClr val="E6FFFB"/>
                </a:solidFill>
              </a:rPr>
              <a:t>checks &amp; fixes gaps</a:t>
            </a:r>
          </a:p>
        </p:txBody>
      </p:sp>
      <p:sp>
        <p:nvSpPr>
          <p:cNvPr id="907" name="fx907"/>
          <p:cNvSpPr/>
          <p:nvPr/>
        </p:nvSpPr>
        <p:spPr>
          <a:xfrm>
            <a:off x="4200000" y="4120000"/>
            <a:ext cx="2600000" cy="560000"/>
          </a:xfrm>
          <a:prstGeom prst="roundRect">
            <a:avLst/>
          </a:prstGeom>
          <a:solidFill>
            <a:srgbClr val="F59E0B"/>
          </a:solidFill>
          <a:effectLst>
            <a:outerShdw blurRad="70000" dist="250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08" name="ft908"/>
          <p:cNvSpPr/>
          <p:nvPr/>
        </p:nvSpPr>
        <p:spPr>
          <a:xfrm>
            <a:off x="4200000" y="4120000"/>
            <a:ext cx="2600000" cy="560000"/>
          </a:xfrm>
          <a:prstGeom prst="rect">
            <a:avLst/>
          </a:prstGeom>
          <a:noFill/>
        </p:spPr>
        <p:txBody>
          <a:bodyPr wrap="square" lIns="30000" tIns="0" rIns="30000" bIns="0" rtlCol="0" anchor="ctr"/>
          <a:lstStyle/>
          <a:p>
            <a:pPr marL="0" indent="0" algn="ctr">
              <a:spcAft>
                <a:spcPts val="50"/>
              </a:spcAft>
              <a:buNone/>
            </a:pPr>
            <a:r>
              <a:rPr lang="en-US" sz="1100" b="1" dirty="0">
                <a:solidFill>
                  <a:srgbClr val="0D1B2A"/>
                </a:solidFill>
              </a:rPr>
              <a:t>Maturity Gate</a:t>
            </a:r>
          </a:p>
          <a:p>
            <a:pPr marL="0" indent="0" algn="ctr">
              <a:buNone/>
            </a:pPr>
            <a:r>
              <a:rPr lang="en-US" sz="830" dirty="0">
                <a:solidFill>
                  <a:srgbClr val="3F3F46"/>
                </a:solidFill>
              </a:rPr>
              <a:t>requirements ready?</a:t>
            </a:r>
          </a:p>
        </p:txBody>
      </p:sp>
      <p:sp>
        <p:nvSpPr>
          <p:cNvPr id="909" name="fx909"/>
          <p:cNvSpPr/>
          <p:nvPr/>
        </p:nvSpPr>
        <p:spPr>
          <a:xfrm>
            <a:off x="4200000" y="5100000"/>
            <a:ext cx="2600000" cy="640000"/>
          </a:xfrm>
          <a:prstGeom prst="roundRect">
            <a:avLst/>
          </a:prstGeom>
          <a:solidFill>
            <a:srgbClr val="1A2E45"/>
          </a:solidFill>
          <a:effectLst>
            <a:outerShdw blurRad="70000" dist="250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10" name="ft910"/>
          <p:cNvSpPr/>
          <p:nvPr/>
        </p:nvSpPr>
        <p:spPr>
          <a:xfrm>
            <a:off x="4200000" y="5100000"/>
            <a:ext cx="2600000" cy="640000"/>
          </a:xfrm>
          <a:prstGeom prst="rect">
            <a:avLst/>
          </a:prstGeom>
          <a:noFill/>
        </p:spPr>
        <p:txBody>
          <a:bodyPr wrap="square" lIns="30000" tIns="0" rIns="30000" bIns="0" rtlCol="0" anchor="ctr"/>
          <a:lstStyle/>
          <a:p>
            <a:pPr marL="0" indent="0" algn="ctr">
              <a:spcAft>
                <a:spcPts val="50"/>
              </a:spcAft>
              <a:buNone/>
            </a:pPr>
            <a:r>
              <a:rPr lang="en-US" sz="1100" b="1" dirty="0">
                <a:solidFill>
                  <a:srgbClr val="FFFFFF"/>
                </a:solidFill>
              </a:rPr>
              <a:t>Export</a:t>
            </a:r>
          </a:p>
          <a:p>
            <a:pPr marL="0" indent="0" algn="ctr">
              <a:buNone/>
            </a:pPr>
            <a:r>
              <a:rPr lang="en-US" sz="830" dirty="0">
                <a:solidFill>
                  <a:srgbClr val="94A3B8"/>
                </a:solidFill>
              </a:rPr>
              <a:t>SRS + WBS + Skill</a:t>
            </a:r>
          </a:p>
        </p:txBody>
      </p:sp>
      <p:cxnSp>
        <p:nvCxnSpPr>
          <p:cNvPr id="911" name="cn911"/>
          <p:cNvCxnSpPr/>
          <p:nvPr/>
        </p:nvCxnSpPr>
        <p:spPr>
          <a:xfrm>
            <a:off x="5500000" y="2040000"/>
            <a:ext cx="0" cy="320000"/>
          </a:xfrm>
          <a:prstGeom prst="line">
            <a:avLst/>
          </a:prstGeom>
          <a:ln w="15875">
            <a:solidFill>
              <a:srgbClr val="475569"/>
            </a:solidFill>
            <a:tailEnd type="triangle" w="med" len="med"/>
          </a:ln>
        </p:spPr>
      </p:cxnSp>
      <p:cxnSp>
        <p:nvCxnSpPr>
          <p:cNvPr id="912" name="cn912"/>
          <p:cNvCxnSpPr/>
          <p:nvPr/>
        </p:nvCxnSpPr>
        <p:spPr>
          <a:xfrm>
            <a:off x="5500000" y="2920000"/>
            <a:ext cx="0" cy="320000"/>
          </a:xfrm>
          <a:prstGeom prst="line">
            <a:avLst/>
          </a:prstGeom>
          <a:ln w="15875">
            <a:solidFill>
              <a:srgbClr val="475569"/>
            </a:solidFill>
            <a:tailEnd type="triangle" w="med" len="med"/>
          </a:ln>
        </p:spPr>
      </p:cxnSp>
      <p:cxnSp>
        <p:nvCxnSpPr>
          <p:cNvPr id="913" name="cn913"/>
          <p:cNvCxnSpPr/>
          <p:nvPr/>
        </p:nvCxnSpPr>
        <p:spPr>
          <a:xfrm>
            <a:off x="5500000" y="3800000"/>
            <a:ext cx="0" cy="320000"/>
          </a:xfrm>
          <a:prstGeom prst="line">
            <a:avLst/>
          </a:prstGeom>
          <a:ln w="15875">
            <a:solidFill>
              <a:srgbClr val="475569"/>
            </a:solidFill>
            <a:tailEnd type="triangle" w="med" len="med"/>
          </a:ln>
        </p:spPr>
      </p:cxnSp>
      <p:cxnSp>
        <p:nvCxnSpPr>
          <p:cNvPr id="914" name="cn914"/>
          <p:cNvCxnSpPr/>
          <p:nvPr/>
        </p:nvCxnSpPr>
        <p:spPr>
          <a:xfrm>
            <a:off x="5500000" y="4680000"/>
            <a:ext cx="0" cy="420000"/>
          </a:xfrm>
          <a:prstGeom prst="line">
            <a:avLst/>
          </a:prstGeom>
          <a:ln w="15875">
            <a:solidFill>
              <a:srgbClr val="475569"/>
            </a:solidFill>
            <a:tailEnd type="triangle" w="med" len="med"/>
          </a:ln>
        </p:spPr>
      </p:cxnSp>
      <p:sp>
        <p:nvSpPr>
          <p:cNvPr id="915" name="ft915"/>
          <p:cNvSpPr/>
          <p:nvPr/>
        </p:nvSpPr>
        <p:spPr>
          <a:xfrm>
            <a:off x="5580000" y="4720000"/>
            <a:ext cx="700000" cy="300000"/>
          </a:xfrm>
          <a:prstGeom prst="rect">
            <a:avLst/>
          </a:prstGeom>
          <a:noFill/>
        </p:spPr>
        <p:txBody>
          <a:bodyPr wrap="square" lIns="30000" tIns="0" rIns="3000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0B981"/>
                </a:solidFill>
              </a:rPr>
              <a:t>Yes</a:t>
            </a:r>
          </a:p>
        </p:txBody>
      </p:sp>
      <p:sp>
        <p:nvSpPr>
          <p:cNvPr id="916" name="fx916"/>
          <p:cNvSpPr/>
          <p:nvPr/>
        </p:nvSpPr>
        <p:spPr>
          <a:xfrm>
            <a:off x="7250000" y="1440000"/>
            <a:ext cx="3000000" cy="640000"/>
          </a:xfrm>
          <a:prstGeom prst="roundRect">
            <a:avLst/>
          </a:prstGeom>
          <a:solidFill>
            <a:srgbClr val="0D1B2A"/>
          </a:solidFill>
          <a:effectLst>
            <a:outerShdw blurRad="70000" dist="250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17" name="ft917"/>
          <p:cNvSpPr/>
          <p:nvPr/>
        </p:nvSpPr>
        <p:spPr>
          <a:xfrm>
            <a:off x="7250000" y="1440000"/>
            <a:ext cx="3000000" cy="640000"/>
          </a:xfrm>
          <a:prstGeom prst="rect">
            <a:avLst/>
          </a:prstGeom>
          <a:noFill/>
        </p:spPr>
        <p:txBody>
          <a:bodyPr wrap="square" lIns="30000" tIns="0" rIns="30000" bIns="0" rtlCol="0" anchor="ctr"/>
          <a:lstStyle/>
          <a:p>
            <a:pPr marL="0" indent="0" algn="ctr">
              <a:spcAft>
                <a:spcPts val="50"/>
              </a:spcAft>
              <a:buNone/>
            </a:pPr>
            <a:r>
              <a:rPr lang="en-US" sz="1100" b="1" dirty="0">
                <a:solidFill>
                  <a:srgbClr val="FFFFFF"/>
                </a:solidFill>
              </a:rPr>
              <a:t>Requirement files</a:t>
            </a:r>
          </a:p>
          <a:p>
            <a:pPr marL="0" indent="0" algn="ctr">
              <a:buNone/>
            </a:pPr>
            <a:r>
              <a:rPr lang="en-US" sz="830" dirty="0">
                <a:solidFill>
                  <a:srgbClr val="94A3B8"/>
                </a:solidFill>
              </a:rPr>
              <a:t>images, xlsx, pdfs</a:t>
            </a:r>
          </a:p>
        </p:txBody>
      </p:sp>
      <p:cxnSp>
        <p:nvCxnSpPr>
          <p:cNvPr id="918" name="cn918"/>
          <p:cNvCxnSpPr/>
          <p:nvPr/>
        </p:nvCxnSpPr>
        <p:spPr>
          <a:xfrm flipH="1">
            <a:off x="6800000" y="1760000"/>
            <a:ext cx="450000" cy="0"/>
          </a:xfrm>
          <a:prstGeom prst="line">
            <a:avLst/>
          </a:prstGeom>
          <a:ln w="15875">
            <a:solidFill>
              <a:srgbClr val="475569"/>
            </a:solidFill>
            <a:tailEnd type="triangle" w="med" len="med"/>
          </a:ln>
        </p:spPr>
      </p:cxnSp>
      <p:sp>
        <p:nvSpPr>
          <p:cNvPr id="919" name="fx919"/>
          <p:cNvSpPr/>
          <p:nvPr/>
        </p:nvSpPr>
        <p:spPr>
          <a:xfrm>
            <a:off x="560000" y="2360000"/>
            <a:ext cx="2500000" cy="640000"/>
          </a:xfrm>
          <a:prstGeom prst="roundRect">
            <a:avLst/>
          </a:prstGeom>
          <a:solidFill>
            <a:srgbClr val="EF4444"/>
          </a:solidFill>
          <a:effectLst>
            <a:outerShdw blurRad="70000" dist="250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20" name="ft920"/>
          <p:cNvSpPr/>
          <p:nvPr/>
        </p:nvSpPr>
        <p:spPr>
          <a:xfrm>
            <a:off x="560000" y="2360000"/>
            <a:ext cx="2500000" cy="640000"/>
          </a:xfrm>
          <a:prstGeom prst="rect">
            <a:avLst/>
          </a:prstGeom>
          <a:noFill/>
        </p:spPr>
        <p:txBody>
          <a:bodyPr wrap="square" lIns="30000" tIns="0" rIns="30000" bIns="0" rtlCol="0" anchor="ctr"/>
          <a:lstStyle/>
          <a:p>
            <a:pPr marL="0" indent="0" algn="ctr">
              <a:spcAft>
                <a:spcPts val="50"/>
              </a:spcAft>
              <a:buNone/>
            </a:pPr>
            <a:r>
              <a:rPr lang="en-US" sz="1100" b="1" dirty="0">
                <a:solidFill>
                  <a:srgbClr val="FFFFFF"/>
                </a:solidFill>
              </a:rPr>
              <a:t>Maturity Report</a:t>
            </a:r>
          </a:p>
          <a:p>
            <a:pPr marL="0" indent="0" algn="ctr">
              <a:buNone/>
            </a:pPr>
            <a:r>
              <a:rPr lang="en-US" sz="830" dirty="0">
                <a:solidFill>
                  <a:srgbClr val="FFE4E6"/>
                </a:solidFill>
              </a:rPr>
              <a:t>gap details</a:t>
            </a:r>
          </a:p>
        </p:txBody>
      </p:sp>
      <p:cxnSp>
        <p:nvCxnSpPr>
          <p:cNvPr id="921" name="cn921"/>
          <p:cNvCxnSpPr/>
          <p:nvPr/>
        </p:nvCxnSpPr>
        <p:spPr>
          <a:xfrm flipH="1">
            <a:off x="1810000" y="4400000"/>
            <a:ext cx="2390000" cy="0"/>
          </a:xfrm>
          <a:prstGeom prst="line">
            <a:avLst/>
          </a:prstGeom>
          <a:ln w="15875">
            <a:solidFill>
              <a:srgbClr val="475569"/>
            </a:solidFill>
          </a:ln>
        </p:spPr>
      </p:cxnSp>
      <p:cxnSp>
        <p:nvCxnSpPr>
          <p:cNvPr id="922" name="cn922"/>
          <p:cNvCxnSpPr/>
          <p:nvPr/>
        </p:nvCxnSpPr>
        <p:spPr>
          <a:xfrm flipV="1">
            <a:off x="1810000" y="3000000"/>
            <a:ext cx="0" cy="1400000"/>
          </a:xfrm>
          <a:prstGeom prst="line">
            <a:avLst/>
          </a:prstGeom>
          <a:ln w="15875">
            <a:solidFill>
              <a:srgbClr val="475569"/>
            </a:solidFill>
            <a:tailEnd type="triangle" w="med" len="med"/>
          </a:ln>
        </p:spPr>
      </p:cxnSp>
      <p:sp>
        <p:nvSpPr>
          <p:cNvPr id="923" name="ft923"/>
          <p:cNvSpPr/>
          <p:nvPr/>
        </p:nvSpPr>
        <p:spPr>
          <a:xfrm>
            <a:off x="1930000" y="4070000"/>
            <a:ext cx="900000" cy="300000"/>
          </a:xfrm>
          <a:prstGeom prst="rect">
            <a:avLst/>
          </a:prstGeom>
          <a:noFill/>
        </p:spPr>
        <p:txBody>
          <a:bodyPr wrap="square" lIns="30000" tIns="0" rIns="3000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F4444"/>
                </a:solidFill>
              </a:rPr>
              <a:t>No</a:t>
            </a:r>
          </a:p>
        </p:txBody>
      </p:sp>
      <p:cxnSp>
        <p:nvCxnSpPr>
          <p:cNvPr id="924" name="cn924"/>
          <p:cNvCxnSpPr/>
          <p:nvPr/>
        </p:nvCxnSpPr>
        <p:spPr>
          <a:xfrm flipV="1">
            <a:off x="1810000" y="1760000"/>
            <a:ext cx="0" cy="600000"/>
          </a:xfrm>
          <a:prstGeom prst="line">
            <a:avLst/>
          </a:prstGeom>
          <a:ln w="15875">
            <a:solidFill>
              <a:srgbClr val="475569"/>
            </a:solidFill>
          </a:ln>
        </p:spPr>
      </p:cxnSp>
      <p:cxnSp>
        <p:nvCxnSpPr>
          <p:cNvPr id="925" name="cn925"/>
          <p:cNvCxnSpPr/>
          <p:nvPr/>
        </p:nvCxnSpPr>
        <p:spPr>
          <a:xfrm>
            <a:off x="1810000" y="1760000"/>
            <a:ext cx="2390000" cy="0"/>
          </a:xfrm>
          <a:prstGeom prst="line">
            <a:avLst/>
          </a:prstGeom>
          <a:ln w="15875">
            <a:solidFill>
              <a:srgbClr val="475569"/>
            </a:solidFill>
            <a:tailEnd type="triangle" w="med" len="med"/>
          </a:ln>
        </p:spPr>
      </p:cxnSp>
      <p:sp>
        <p:nvSpPr>
          <p:cNvPr id="926" name="fx926"/>
          <p:cNvSpPr/>
          <p:nvPr/>
        </p:nvSpPr>
        <p:spPr>
          <a:xfrm>
            <a:off x="7250000" y="5060000"/>
            <a:ext cx="3200000" cy="720000"/>
          </a:xfrm>
          <a:prstGeom prst="roundRect">
            <a:avLst/>
          </a:prstGeom>
          <a:solidFill>
            <a:srgbClr val="0D1B2A"/>
          </a:solidFill>
          <a:effectLst>
            <a:outerShdw blurRad="70000" dist="250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27" name="ft927"/>
          <p:cNvSpPr/>
          <p:nvPr/>
        </p:nvSpPr>
        <p:spPr>
          <a:xfrm>
            <a:off x="7250000" y="5060000"/>
            <a:ext cx="3200000" cy="720000"/>
          </a:xfrm>
          <a:prstGeom prst="rect">
            <a:avLst/>
          </a:prstGeom>
          <a:noFill/>
        </p:spPr>
        <p:txBody>
          <a:bodyPr wrap="square" lIns="30000" tIns="0" rIns="30000" bIns="0" rtlCol="0" anchor="ctr"/>
          <a:lstStyle/>
          <a:p>
            <a:pPr marL="0" indent="0" algn="ctr">
              <a:spcAft>
                <a:spcPts val="50"/>
              </a:spcAft>
              <a:buNone/>
            </a:pPr>
            <a:r>
              <a:rPr lang="en-US" sz="1100" b="1" dirty="0">
                <a:solidFill>
                  <a:srgbClr val="FFFFFF"/>
                </a:solidFill>
              </a:rPr>
              <a:t>Map Skill to router</a:t>
            </a:r>
          </a:p>
          <a:p>
            <a:pPr marL="0" indent="0" algn="ctr">
              <a:buNone/>
            </a:pPr>
            <a:r>
              <a:rPr lang="en-US" sz="830" dirty="0">
                <a:solidFill>
                  <a:srgbClr val="94A3B8"/>
                </a:solidFill>
              </a:rPr>
              <a:t>for further development process</a:t>
            </a:r>
          </a:p>
        </p:txBody>
      </p:sp>
      <p:cxnSp>
        <p:nvCxnSpPr>
          <p:cNvPr id="928" name="cn928"/>
          <p:cNvCxnSpPr/>
          <p:nvPr/>
        </p:nvCxnSpPr>
        <p:spPr>
          <a:xfrm>
            <a:off x="6800000" y="5420000"/>
            <a:ext cx="450000" cy="0"/>
          </a:xfrm>
          <a:prstGeom prst="line">
            <a:avLst/>
          </a:prstGeom>
          <a:ln w="15875">
            <a:solidFill>
              <a:srgbClr val="475569"/>
            </a:solidFill>
            <a:tailEnd type="triangle" w="med" len="med"/>
          </a:ln>
        </p:spPr>
      </p:cxnSp>
      <p:cxnSp>
        <p:nvCxnSpPr>
          <p:cNvPr id="971" name="lp971"/>
          <p:cNvCxnSpPr/>
          <p:nvPr/>
        </p:nvCxnSpPr>
        <p:spPr>
          <a:xfrm>
            <a:off x="6800000" y="3520000"/>
            <a:ext cx="250000" cy="0"/>
          </a:xfrm>
          <a:prstGeom prst="line">
            <a:avLst/>
          </a:prstGeom>
          <a:ln w="15875">
            <a:solidFill>
              <a:srgbClr val="475569"/>
            </a:solidFill>
          </a:ln>
        </p:spPr>
      </p:cxnSp>
      <p:cxnSp>
        <p:nvCxnSpPr>
          <p:cNvPr id="972" name="lp972"/>
          <p:cNvCxnSpPr/>
          <p:nvPr/>
        </p:nvCxnSpPr>
        <p:spPr>
          <a:xfrm flipV="1">
            <a:off x="7050000" y="2640000"/>
            <a:ext cx="0" cy="880000"/>
          </a:xfrm>
          <a:prstGeom prst="line">
            <a:avLst/>
          </a:prstGeom>
          <a:ln w="15875">
            <a:solidFill>
              <a:srgbClr val="475569"/>
            </a:solidFill>
          </a:ln>
        </p:spPr>
      </p:cxnSp>
      <p:cxnSp>
        <p:nvCxnSpPr>
          <p:cNvPr id="973" name="lp973"/>
          <p:cNvCxnSpPr/>
          <p:nvPr/>
        </p:nvCxnSpPr>
        <p:spPr>
          <a:xfrm flipH="1">
            <a:off x="6800000" y="2640000"/>
            <a:ext cx="250000" cy="0"/>
          </a:xfrm>
          <a:prstGeom prst="line">
            <a:avLst/>
          </a:prstGeom>
          <a:ln w="15875">
            <a:solidFill>
              <a:srgbClr val="10B981"/>
            </a:solidFill>
            <a:tailEnd type="triangle" w="med" len="med"/>
          </a:ln>
        </p:spPr>
      </p:cxnSp>
      <p:sp>
        <p:nvSpPr>
          <p:cNvPr id="974" name="lt974"/>
          <p:cNvSpPr/>
          <p:nvPr/>
        </p:nvSpPr>
        <p:spPr>
          <a:xfrm>
            <a:off x="7150000" y="2790000"/>
            <a:ext cx="1650000" cy="5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</a:rPr>
              <a:t>3 rounds (max, if needed)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Shape 2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Text 3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[Req-Analysis]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93392" y="0"/>
            <a:ext cx="7132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Requirement Analyst -- How It Works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469880" y="91440"/>
            <a:ext cx="566928" cy="5669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10469880" y="91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10" name="Text 8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/req-analysis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950976"/>
            <a:ext cx="11521440" cy="420624"/>
          </a:xfrm>
          <a:prstGeom prst="rect">
            <a:avLst/>
          </a:prstGeom>
          <a:solidFill>
            <a:srgbClr val="F59E0B">
              <a:alpha val="1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57200" y="950976"/>
            <a:ext cx="11338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2A"/>
                </a:solidFill>
              </a:rPr>
              <a:t>One prompt turns a raw requirement file into a clear SRS and task list -- here is what that looks like.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704320" y="6537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  <p:sp>
        <p:nvSpPr>
          <p:cNvPr id="401" name="r401"/>
          <p:cNvSpPr/>
          <p:nvPr/>
        </p:nvSpPr>
        <p:spPr>
          <a:xfrm>
            <a:off x="320040" y="1481328"/>
            <a:ext cx="548640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2" name="r402"/>
          <p:cNvSpPr/>
          <p:nvPr/>
        </p:nvSpPr>
        <p:spPr>
          <a:xfrm>
            <a:off x="320040" y="1481328"/>
            <a:ext cx="548640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03" name="t403"/>
          <p:cNvSpPr/>
          <p:nvPr/>
        </p:nvSpPr>
        <p:spPr>
          <a:xfrm>
            <a:off x="620040" y="1600000"/>
            <a:ext cx="4886400" cy="3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What the Requirement Analyst Does</a:t>
            </a:r>
          </a:p>
        </p:txBody>
      </p:sp>
      <p:sp>
        <p:nvSpPr>
          <p:cNvPr id="404" name="r404"/>
          <p:cNvSpPr/>
          <p:nvPr/>
        </p:nvSpPr>
        <p:spPr>
          <a:xfrm>
            <a:off x="620040" y="2120000"/>
            <a:ext cx="300000" cy="30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05" name="t405"/>
          <p:cNvSpPr/>
          <p:nvPr/>
        </p:nvSpPr>
        <p:spPr>
          <a:xfrm>
            <a:off x="620040" y="212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6" name="t406"/>
          <p:cNvSpPr/>
          <p:nvPr/>
        </p:nvSpPr>
        <p:spPr>
          <a:xfrm>
            <a:off x="1050040" y="205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You attach the requirement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An Excel, Word, PDF, or image file from the client.</a:t>
            </a:r>
          </a:p>
        </p:txBody>
      </p:sp>
      <p:sp>
        <p:nvSpPr>
          <p:cNvPr id="407" name="r407"/>
          <p:cNvSpPr/>
          <p:nvPr/>
        </p:nvSpPr>
        <p:spPr>
          <a:xfrm>
            <a:off x="620040" y="2940000"/>
            <a:ext cx="300000" cy="30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08" name="t408"/>
          <p:cNvSpPr/>
          <p:nvPr/>
        </p:nvSpPr>
        <p:spPr>
          <a:xfrm>
            <a:off x="620040" y="294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9" name="t409"/>
          <p:cNvSpPr/>
          <p:nvPr/>
        </p:nvSpPr>
        <p:spPr>
          <a:xfrm>
            <a:off x="1050040" y="287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Maturity Assessor checks it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Is it clear enough to build from? If not, you get a gap report.</a:t>
            </a:r>
          </a:p>
        </p:txBody>
      </p:sp>
      <p:sp>
        <p:nvSpPr>
          <p:cNvPr id="410" name="r410"/>
          <p:cNvSpPr/>
          <p:nvPr/>
        </p:nvSpPr>
        <p:spPr>
          <a:xfrm>
            <a:off x="620040" y="3760000"/>
            <a:ext cx="300000" cy="30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11" name="t411"/>
          <p:cNvSpPr/>
          <p:nvPr/>
        </p:nvSpPr>
        <p:spPr>
          <a:xfrm>
            <a:off x="620040" y="376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2" name="t412"/>
          <p:cNvSpPr/>
          <p:nvPr/>
        </p:nvSpPr>
        <p:spPr>
          <a:xfrm>
            <a:off x="1050040" y="369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Analyst + Reviewer write it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One drafts the SRS, the other checks it and fixes any gaps.</a:t>
            </a:r>
          </a:p>
        </p:txBody>
      </p:sp>
      <p:sp>
        <p:nvSpPr>
          <p:cNvPr id="413" name="r413"/>
          <p:cNvSpPr/>
          <p:nvPr/>
        </p:nvSpPr>
        <p:spPr>
          <a:xfrm>
            <a:off x="620040" y="4580000"/>
            <a:ext cx="300000" cy="30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14" name="t414"/>
          <p:cNvSpPr/>
          <p:nvPr/>
        </p:nvSpPr>
        <p:spPr>
          <a:xfrm>
            <a:off x="620040" y="458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5" name="t415"/>
          <p:cNvSpPr/>
          <p:nvPr/>
        </p:nvSpPr>
        <p:spPr>
          <a:xfrm>
            <a:off x="1050040" y="451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It saves the documents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SRS, task list (WBS), and a reusable project skill file.</a:t>
            </a:r>
          </a:p>
        </p:txBody>
      </p:sp>
      <p:sp>
        <p:nvSpPr>
          <p:cNvPr id="416" name="t416"/>
          <p:cNvSpPr/>
          <p:nvPr/>
        </p:nvSpPr>
        <p:spPr>
          <a:xfrm>
            <a:off x="6035040" y="1600000"/>
            <a:ext cx="5806440" cy="3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Example -- analyze a requirement doc</a:t>
            </a:r>
          </a:p>
        </p:txBody>
      </p:sp>
      <p:sp>
        <p:nvSpPr>
          <p:cNvPr id="417" name="r417"/>
          <p:cNvSpPr/>
          <p:nvPr/>
        </p:nvSpPr>
        <p:spPr>
          <a:xfrm>
            <a:off x="6035040" y="2060000"/>
            <a:ext cx="5806440" cy="900000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418" name="t418"/>
          <p:cNvSpPr/>
          <p:nvPr/>
        </p:nvSpPr>
        <p:spPr>
          <a:xfrm>
            <a:off x="6235040" y="2180000"/>
            <a:ext cx="5406440" cy="6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850" dirty="0">
                <a:solidFill>
                  <a:srgbClr val="94A3B8"/>
                </a:solidFill>
              </a:rPr>
              <a:t>You type (and attach the file):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/req-analysis Analyze the attached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requirement and produce SRS + WBS</a:t>
            </a:r>
          </a:p>
        </p:txBody>
      </p:sp>
      <p:sp>
        <p:nvSpPr>
          <p:cNvPr id="419" name="t419"/>
          <p:cNvSpPr/>
          <p:nvPr/>
        </p:nvSpPr>
        <p:spPr>
          <a:xfrm>
            <a:off x="6035040" y="3060000"/>
            <a:ext cx="580644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produces  ▾</a:t>
            </a:r>
          </a:p>
        </p:txBody>
      </p:sp>
      <p:sp>
        <p:nvSpPr>
          <p:cNvPr id="420" name="r420"/>
          <p:cNvSpPr/>
          <p:nvPr/>
        </p:nvSpPr>
        <p:spPr>
          <a:xfrm>
            <a:off x="6035040" y="3400000"/>
            <a:ext cx="5806440" cy="1740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21" name="t421"/>
          <p:cNvSpPr/>
          <p:nvPr/>
        </p:nvSpPr>
        <p:spPr>
          <a:xfrm>
            <a:off x="6255040" y="3480000"/>
            <a:ext cx="5366440" cy="16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docs/srs-ceiling-height.md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docs/wbs/wbs-ceiling-height.md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.github/skills/.../ceiling-height.md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SRS      12 requirements, 4 corner cases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WBS      1 Epic, 5 Stories (JIRA-ready)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   condensed rules for future prompts</a:t>
            </a:r>
          </a:p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Maturity 100%  -- ready to build</a:t>
            </a:r>
          </a:p>
        </p:txBody>
      </p:sp>
      <p:sp>
        <p:nvSpPr>
          <p:cNvPr id="422" name="r422"/>
          <p:cNvSpPr/>
          <p:nvPr/>
        </p:nvSpPr>
        <p:spPr>
          <a:xfrm>
            <a:off x="6035040" y="4980000"/>
            <a:ext cx="5806440" cy="9000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423" name="t423"/>
          <p:cNvSpPr/>
          <p:nvPr/>
        </p:nvSpPr>
        <p:spPr>
          <a:xfrm>
            <a:off x="6275040" y="4980000"/>
            <a:ext cx="5326440" cy="9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22D3EE"/>
                </a:solidFill>
              </a:rPr>
              <a:t>Why it matters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Everyone builds from one clear SRS -- no guessing what the client meant.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-640080"/>
            <a:ext cx="3474720" cy="347472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3108960" cy="384048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6" name="Text 4"/>
          <p:cNvSpPr/>
          <p:nvPr/>
        </p:nvSpPr>
        <p:spPr>
          <a:xfrm>
            <a:off x="502920" y="128016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 2 OF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913632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22D3EE"/>
                </a:solidFill>
              </a:rPr>
              <a:t>We build the change and run a 7-agent review(AI) -- every fix is linked back to the SRS.</a:t>
            </a:r>
            <a:endParaRPr lang="en-US" sz="150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9601200" y="2286000"/>
            <a:ext cx="2194560" cy="21945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801" name="fc801"/>
          <p:cNvSpPr/>
          <p:nvPr/>
        </p:nvSpPr>
        <p:spPr>
          <a:xfrm>
            <a:off x="457200" y="4617720"/>
            <a:ext cx="2034368" cy="1097280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802" name="ft802"/>
          <p:cNvSpPr/>
          <p:nvPr/>
        </p:nvSpPr>
        <p:spPr>
          <a:xfrm>
            <a:off x="457200" y="4663440"/>
            <a:ext cx="2034368" cy="548640"/>
          </a:xfrm>
          <a:prstGeom prst="rect">
            <a:avLst/>
          </a:prstGeom>
          <a:noFill/>
        </p:spPr>
        <p:txBody>
          <a:bodyPr wrap="square" lIns="20000" tIns="0" rIns="2000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</a:t>
            </a:r>
          </a:p>
        </p:txBody>
      </p:sp>
      <p:sp>
        <p:nvSpPr>
          <p:cNvPr id="803" name="ft803"/>
          <p:cNvSpPr/>
          <p:nvPr/>
        </p:nvSpPr>
        <p:spPr>
          <a:xfrm>
            <a:off x="457200" y="5212080"/>
            <a:ext cx="2034368" cy="411480"/>
          </a:xfrm>
          <a:prstGeom prst="rect">
            <a:avLst/>
          </a:prstGeom>
          <a:noFill/>
        </p:spPr>
        <p:txBody>
          <a:bodyPr wrap="square" lIns="20000" tIns="0" rIns="2000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Change Requests</a:t>
            </a:r>
          </a:p>
        </p:txBody>
      </p:sp>
      <p:sp>
        <p:nvSpPr>
          <p:cNvPr id="805" name="fc805"/>
          <p:cNvSpPr/>
          <p:nvPr/>
        </p:nvSpPr>
        <p:spPr>
          <a:xfrm>
            <a:off x="2751568" y="4617720"/>
            <a:ext cx="2034368" cy="1097280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806" name="ft806"/>
          <p:cNvSpPr/>
          <p:nvPr/>
        </p:nvSpPr>
        <p:spPr>
          <a:xfrm>
            <a:off x="2751568" y="4663440"/>
            <a:ext cx="2034368" cy="548640"/>
          </a:xfrm>
          <a:prstGeom prst="rect">
            <a:avLst/>
          </a:prstGeom>
          <a:noFill/>
        </p:spPr>
        <p:txBody>
          <a:bodyPr wrap="square" lIns="20000" tIns="0" rIns="2000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</a:t>
            </a:r>
          </a:p>
        </p:txBody>
      </p:sp>
      <p:sp>
        <p:nvSpPr>
          <p:cNvPr id="807" name="ft807"/>
          <p:cNvSpPr/>
          <p:nvPr/>
        </p:nvSpPr>
        <p:spPr>
          <a:xfrm>
            <a:off x="2751568" y="5212080"/>
            <a:ext cx="2034368" cy="411480"/>
          </a:xfrm>
          <a:prstGeom prst="rect">
            <a:avLst/>
          </a:prstGeom>
          <a:noFill/>
        </p:spPr>
        <p:txBody>
          <a:bodyPr wrap="square" lIns="20000" tIns="0" rIns="2000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Code Review</a:t>
            </a:r>
          </a:p>
        </p:txBody>
      </p:sp>
      <p:sp>
        <p:nvSpPr>
          <p:cNvPr id="808" name="fa808"/>
          <p:cNvSpPr/>
          <p:nvPr/>
        </p:nvSpPr>
        <p:spPr>
          <a:xfrm>
            <a:off x="4785936" y="4617720"/>
            <a:ext cx="260000" cy="10972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2000" b="1" dirty="0">
              <a:solidFill>
                <a:srgbClr val="22D3EE"/>
              </a:solidFill>
              <a:ea typeface="Calibri"/>
              <a:cs typeface="Calibri"/>
            </a:endParaRPr>
          </a:p>
        </p:txBody>
      </p:sp>
      <p:sp>
        <p:nvSpPr>
          <p:cNvPr id="809" name="fc809"/>
          <p:cNvSpPr/>
          <p:nvPr/>
        </p:nvSpPr>
        <p:spPr>
          <a:xfrm>
            <a:off x="5045936" y="4617720"/>
            <a:ext cx="2034368" cy="1097280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810" name="ft810"/>
          <p:cNvSpPr/>
          <p:nvPr/>
        </p:nvSpPr>
        <p:spPr>
          <a:xfrm>
            <a:off x="5045936" y="4663440"/>
            <a:ext cx="2034368" cy="548640"/>
          </a:xfrm>
          <a:prstGeom prst="rect">
            <a:avLst/>
          </a:prstGeom>
          <a:noFill/>
        </p:spPr>
        <p:txBody>
          <a:bodyPr wrap="square" lIns="20000" tIns="0" rIns="2000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/bug</a:t>
            </a:r>
          </a:p>
        </p:txBody>
      </p:sp>
      <p:sp>
        <p:nvSpPr>
          <p:cNvPr id="811" name="ft811"/>
          <p:cNvSpPr/>
          <p:nvPr/>
        </p:nvSpPr>
        <p:spPr>
          <a:xfrm>
            <a:off x="5045936" y="5212080"/>
            <a:ext cx="2034368" cy="411480"/>
          </a:xfrm>
          <a:prstGeom prst="rect">
            <a:avLst/>
          </a:prstGeom>
          <a:noFill/>
        </p:spPr>
        <p:txBody>
          <a:bodyPr wrap="square" lIns="20000" tIns="0" rIns="2000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Bug Fixes</a:t>
            </a:r>
          </a:p>
        </p:txBody>
      </p:sp>
      <p:sp>
        <p:nvSpPr>
          <p:cNvPr id="816" name="fa816"/>
          <p:cNvSpPr/>
          <p:nvPr/>
        </p:nvSpPr>
        <p:spPr>
          <a:xfrm>
            <a:off x="9374672" y="4617720"/>
            <a:ext cx="260000" cy="10972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2000" b="1" dirty="0">
              <a:solidFill>
                <a:srgbClr val="22D3EE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" name="Shape 2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5" name="Text 3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[CR]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93392" y="0"/>
            <a:ext cx="7132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Change Request Engineer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469880" y="91440"/>
            <a:ext cx="566928" cy="566928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8" name="Text 6"/>
          <p:cNvSpPr/>
          <p:nvPr/>
        </p:nvSpPr>
        <p:spPr>
          <a:xfrm>
            <a:off x="10469880" y="91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2/5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10" name="Text 8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950976"/>
            <a:ext cx="11521440" cy="420624"/>
          </a:xfrm>
          <a:prstGeom prst="rect">
            <a:avLst/>
          </a:prstGeom>
          <a:solidFill>
            <a:srgbClr val="0891B2">
              <a:alpha val="1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57200" y="950976"/>
            <a:ext cx="11338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2A"/>
                </a:solidFill>
              </a:rPr>
              <a:t>Overview: The [CR] tag hires the Change Request Engineer. It implements a client change end-to-end across every layer -- Entity, Service, Controller, Template -- following the app's existing patterns.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481328"/>
            <a:ext cx="548640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481328"/>
            <a:ext cx="5486400" cy="54864"/>
          </a:xfrm>
          <a:prstGeom prst="rect">
            <a:avLst/>
          </a:prstGeom>
          <a:solidFill>
            <a:srgbClr val="0891B2"/>
          </a:solidFill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32688" y="1618488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9768" y="2157984"/>
            <a:ext cx="329184" cy="329184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8" name="Text 15"/>
          <p:cNvSpPr/>
          <p:nvPr/>
        </p:nvSpPr>
        <p:spPr>
          <a:xfrm>
            <a:off x="429768" y="21579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50392" y="21488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Loads the project skill file -- the app's structure and rules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29768" y="2615184"/>
            <a:ext cx="329184" cy="329184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21" name="Text 18"/>
          <p:cNvSpPr/>
          <p:nvPr/>
        </p:nvSpPr>
        <p:spPr>
          <a:xfrm>
            <a:off x="429768" y="26151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50392" y="26060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Finds the layers to change: Entity, Service, Controller, Template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9768" y="3072384"/>
            <a:ext cx="329184" cy="329184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24" name="Text 21"/>
          <p:cNvSpPr/>
          <p:nvPr/>
        </p:nvSpPr>
        <p:spPr>
          <a:xfrm>
            <a:off x="429768" y="30723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50392" y="30632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Searches for existing patterns first, then follows the same style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29768" y="3529584"/>
            <a:ext cx="329184" cy="329184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27" name="Text 24"/>
          <p:cNvSpPr/>
          <p:nvPr/>
        </p:nvSpPr>
        <p:spPr>
          <a:xfrm>
            <a:off x="429768" y="35295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50392" y="35204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Implements the change across all affected layers in one pass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9768" y="3986784"/>
            <a:ext cx="329184" cy="329184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30" name="Text 27"/>
          <p:cNvSpPr/>
          <p:nvPr/>
        </p:nvSpPr>
        <p:spPr>
          <a:xfrm>
            <a:off x="429768" y="39867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50392" y="39776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Validates against the skill file's acceptance checklist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3192" y="6108192"/>
            <a:ext cx="5321808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3" name="Text 30"/>
          <p:cNvSpPr/>
          <p:nvPr/>
        </p:nvSpPr>
        <p:spPr>
          <a:xfrm>
            <a:off x="457200" y="6108192"/>
            <a:ext cx="51937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Result: A complete change across every layer, matching app patterns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035040" y="1481328"/>
            <a:ext cx="580644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035040" y="1481328"/>
            <a:ext cx="580644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6" name="Text 33"/>
          <p:cNvSpPr/>
          <p:nvPr/>
        </p:nvSpPr>
        <p:spPr>
          <a:xfrm>
            <a:off x="6172200" y="1600200"/>
            <a:ext cx="5532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Key Benefits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172200" y="2011680"/>
            <a:ext cx="5532120" cy="4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The project skill file helps it find the right code fast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Pattern-first: the change matches the rest of the codebase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Every CR  specific </a:t>
            </a:r>
            <a:r>
              <a:rPr lang="en-US" sz="1300">
                <a:solidFill>
                  <a:srgbClr val="64748B"/>
                </a:solidFill>
              </a:rPr>
              <a:t>acceptance(BASIC)</a:t>
            </a:r>
            <a:r>
              <a:rPr lang="en-US" sz="1300" dirty="0">
                <a:solidFill>
                  <a:srgbClr val="64748B"/>
                </a:solidFill>
              </a:rPr>
              <a:t> item is checked off before it's done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Updates every layer -- Entity to Template -- in one pass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No mixed-up work -- one focused change per prompt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1704320" y="6537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" name="Shape 2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5" name="Text 3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[CR]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93392" y="0"/>
            <a:ext cx="7132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Change Request -- How It Works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469880" y="91440"/>
            <a:ext cx="566928" cy="566928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8" name="Text 6"/>
          <p:cNvSpPr/>
          <p:nvPr/>
        </p:nvSpPr>
        <p:spPr>
          <a:xfrm>
            <a:off x="10469880" y="91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10" name="Text 8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950976"/>
            <a:ext cx="11521440" cy="420624"/>
          </a:xfrm>
          <a:prstGeom prst="rect">
            <a:avLst/>
          </a:prstGeom>
          <a:solidFill>
            <a:srgbClr val="0891B2">
              <a:alpha val="1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57200" y="950976"/>
            <a:ext cx="11338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2A"/>
                </a:solidFill>
              </a:rPr>
              <a:t>One prompt implements a client change across every layer of the app -- here is what that looks like.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704320" y="6537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  <p:sp>
        <p:nvSpPr>
          <p:cNvPr id="401" name="r401"/>
          <p:cNvSpPr/>
          <p:nvPr/>
        </p:nvSpPr>
        <p:spPr>
          <a:xfrm>
            <a:off x="320040" y="1481328"/>
            <a:ext cx="548640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2" name="r402"/>
          <p:cNvSpPr/>
          <p:nvPr/>
        </p:nvSpPr>
        <p:spPr>
          <a:xfrm>
            <a:off x="320040" y="1481328"/>
            <a:ext cx="548640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03" name="t403"/>
          <p:cNvSpPr/>
          <p:nvPr/>
        </p:nvSpPr>
        <p:spPr>
          <a:xfrm>
            <a:off x="620040" y="1600000"/>
            <a:ext cx="4886400" cy="3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What the CR Engineer Does</a:t>
            </a:r>
          </a:p>
        </p:txBody>
      </p:sp>
      <p:sp>
        <p:nvSpPr>
          <p:cNvPr id="404" name="r404"/>
          <p:cNvSpPr/>
          <p:nvPr/>
        </p:nvSpPr>
        <p:spPr>
          <a:xfrm>
            <a:off x="620040" y="2120000"/>
            <a:ext cx="300000" cy="3000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05" name="t405"/>
          <p:cNvSpPr/>
          <p:nvPr/>
        </p:nvSpPr>
        <p:spPr>
          <a:xfrm>
            <a:off x="620040" y="212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6" name="t406"/>
          <p:cNvSpPr/>
          <p:nvPr/>
        </p:nvSpPr>
        <p:spPr>
          <a:xfrm>
            <a:off x="1050040" y="205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You describe the change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 plain words -- what the client wants, with the key details.</a:t>
            </a:r>
          </a:p>
        </p:txBody>
      </p:sp>
      <p:sp>
        <p:nvSpPr>
          <p:cNvPr id="407" name="r407"/>
          <p:cNvSpPr/>
          <p:nvPr/>
        </p:nvSpPr>
        <p:spPr>
          <a:xfrm>
            <a:off x="620040" y="2940000"/>
            <a:ext cx="300000" cy="3000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08" name="t408"/>
          <p:cNvSpPr/>
          <p:nvPr/>
        </p:nvSpPr>
        <p:spPr>
          <a:xfrm>
            <a:off x="620040" y="294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9" name="t409"/>
          <p:cNvSpPr/>
          <p:nvPr/>
        </p:nvSpPr>
        <p:spPr>
          <a:xfrm>
            <a:off x="1050040" y="287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It loads the project rules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skill file tells it the app's structure and patterns.</a:t>
            </a:r>
          </a:p>
        </p:txBody>
      </p:sp>
      <p:sp>
        <p:nvSpPr>
          <p:cNvPr id="410" name="r410"/>
          <p:cNvSpPr/>
          <p:nvPr/>
        </p:nvSpPr>
        <p:spPr>
          <a:xfrm>
            <a:off x="620040" y="3760000"/>
            <a:ext cx="300000" cy="3000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11" name="t411"/>
          <p:cNvSpPr/>
          <p:nvPr/>
        </p:nvSpPr>
        <p:spPr>
          <a:xfrm>
            <a:off x="620040" y="376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2" name="t412"/>
          <p:cNvSpPr/>
          <p:nvPr/>
        </p:nvSpPr>
        <p:spPr>
          <a:xfrm>
            <a:off x="1050040" y="369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It updates every layer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Entity, then Service, then Controller, then Template -- in order.</a:t>
            </a:r>
          </a:p>
        </p:txBody>
      </p:sp>
      <p:sp>
        <p:nvSpPr>
          <p:cNvPr id="413" name="r413"/>
          <p:cNvSpPr/>
          <p:nvPr/>
        </p:nvSpPr>
        <p:spPr>
          <a:xfrm>
            <a:off x="620040" y="4580000"/>
            <a:ext cx="300000" cy="3000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14" name="t414"/>
          <p:cNvSpPr/>
          <p:nvPr/>
        </p:nvSpPr>
        <p:spPr>
          <a:xfrm>
            <a:off x="620040" y="458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5" name="t415"/>
          <p:cNvSpPr/>
          <p:nvPr/>
        </p:nvSpPr>
        <p:spPr>
          <a:xfrm>
            <a:off x="1050040" y="451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It checks the result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Validates against the acceptance checklist before finishing.</a:t>
            </a:r>
          </a:p>
        </p:txBody>
      </p:sp>
      <p:sp>
        <p:nvSpPr>
          <p:cNvPr id="416" name="t416"/>
          <p:cNvSpPr/>
          <p:nvPr/>
        </p:nvSpPr>
        <p:spPr>
          <a:xfrm>
            <a:off x="6035040" y="1600000"/>
            <a:ext cx="5806440" cy="3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Example -- add a new field</a:t>
            </a:r>
          </a:p>
        </p:txBody>
      </p:sp>
      <p:sp>
        <p:nvSpPr>
          <p:cNvPr id="417" name="r417"/>
          <p:cNvSpPr/>
          <p:nvPr/>
        </p:nvSpPr>
        <p:spPr>
          <a:xfrm>
            <a:off x="6035040" y="2060000"/>
            <a:ext cx="5806440" cy="1040000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418" name="t418"/>
          <p:cNvSpPr/>
          <p:nvPr/>
        </p:nvSpPr>
        <p:spPr>
          <a:xfrm>
            <a:off x="6235040" y="2180000"/>
            <a:ext cx="5406440" cy="8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850" dirty="0">
                <a:solidFill>
                  <a:srgbClr val="94A3B8"/>
                </a:solidFill>
              </a:rPr>
              <a:t>You type: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 [CR2] Add a "ceiling_height"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field, shown only for NEW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installations</a:t>
            </a:r>
          </a:p>
        </p:txBody>
      </p:sp>
      <p:sp>
        <p:nvSpPr>
          <p:cNvPr id="419" name="t419"/>
          <p:cNvSpPr/>
          <p:nvPr/>
        </p:nvSpPr>
        <p:spPr>
          <a:xfrm>
            <a:off x="6035040" y="3200000"/>
            <a:ext cx="580644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produces  ▾</a:t>
            </a:r>
          </a:p>
        </p:txBody>
      </p:sp>
      <p:sp>
        <p:nvSpPr>
          <p:cNvPr id="420" name="r420"/>
          <p:cNvSpPr/>
          <p:nvPr/>
        </p:nvSpPr>
        <p:spPr>
          <a:xfrm>
            <a:off x="6035040" y="3540000"/>
            <a:ext cx="5806440" cy="1240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21" name="t421"/>
          <p:cNvSpPr/>
          <p:nvPr/>
        </p:nvSpPr>
        <p:spPr>
          <a:xfrm>
            <a:off x="6255040" y="3690000"/>
            <a:ext cx="5366440" cy="9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applied across 4 layers:</a:t>
            </a:r>
          </a:p>
          <a:p>
            <a:pPr marL="0" indent="0">
              <a:spcAft>
                <a:spcPts val="130"/>
              </a:spcAft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Entity      new field added</a:t>
            </a:r>
          </a:p>
          <a:p>
            <a:pPr marL="0" indent="0">
              <a:spcAft>
                <a:spcPts val="130"/>
              </a:spcAft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Service     validation rule</a:t>
            </a:r>
          </a:p>
          <a:p>
            <a:pPr marL="0" indent="0">
              <a:spcAft>
                <a:spcPts val="130"/>
              </a:spcAft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Controller  save + load logic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Template    shows for NEW only</a:t>
            </a:r>
          </a:p>
        </p:txBody>
      </p:sp>
      <p:sp>
        <p:nvSpPr>
          <p:cNvPr id="422" name="r422"/>
          <p:cNvSpPr/>
          <p:nvPr/>
        </p:nvSpPr>
        <p:spPr>
          <a:xfrm>
            <a:off x="6035040" y="4980000"/>
            <a:ext cx="5806440" cy="9000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423" name="t423"/>
          <p:cNvSpPr/>
          <p:nvPr/>
        </p:nvSpPr>
        <p:spPr>
          <a:xfrm>
            <a:off x="6275040" y="4980000"/>
            <a:ext cx="5326440" cy="9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22D3EE"/>
                </a:solidFill>
              </a:rPr>
              <a:t>Why it matters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The whole change lands in one pass -- nothing half-built or forgotten.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4" name="Shape 2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5" name="Text 3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[Review]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93392" y="0"/>
            <a:ext cx="7132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Review(AI) Commander (7 Agents)</a:t>
            </a:r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10469880" y="91440"/>
            <a:ext cx="566928" cy="566928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8" name="Text 6"/>
          <p:cNvSpPr/>
          <p:nvPr/>
        </p:nvSpPr>
        <p:spPr>
          <a:xfrm>
            <a:off x="10469880" y="91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3/5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10" name="Text 8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950976"/>
            <a:ext cx="11521440" cy="420624"/>
          </a:xfrm>
          <a:prstGeom prst="rect">
            <a:avLst/>
          </a:prstGeom>
          <a:solidFill>
            <a:srgbClr val="8B5CF6">
              <a:alpha val="1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57200" y="950976"/>
            <a:ext cx="11338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2A"/>
                </a:solidFill>
              </a:rPr>
              <a:t>Overview: The [Review] tag hires the Review Commander. Seven specialist agents review the code at once and produce a saved report with a clear verdict and prioritized fixes.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481328"/>
            <a:ext cx="548640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481328"/>
            <a:ext cx="5486400" cy="54864"/>
          </a:xfrm>
          <a:prstGeom prst="rect">
            <a:avLst/>
          </a:prstGeom>
          <a:solidFill>
            <a:srgbClr val="8B5CF6"/>
          </a:solidFill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32688" y="1618488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9768" y="2157984"/>
            <a:ext cx="329184" cy="3291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18" name="Text 15"/>
          <p:cNvSpPr/>
          <p:nvPr/>
        </p:nvSpPr>
        <p:spPr>
          <a:xfrm>
            <a:off x="429768" y="21579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50392" y="21488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Picks the mode: a PR, a branch, staged changes, or a diff file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29768" y="2615184"/>
            <a:ext cx="329184" cy="3291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21" name="Text 18"/>
          <p:cNvSpPr/>
          <p:nvPr/>
        </p:nvSpPr>
        <p:spPr>
          <a:xfrm>
            <a:off x="429768" y="26151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50392" y="26060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Looks at exactly what code has changed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9768" y="3072384"/>
            <a:ext cx="329184" cy="3291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24" name="Text 21"/>
          <p:cNvSpPr/>
          <p:nvPr/>
        </p:nvSpPr>
        <p:spPr>
          <a:xfrm>
            <a:off x="429768" y="30723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50392" y="30632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0D1B2A"/>
                </a:solidFill>
              </a:rPr>
              <a:t>7 agents check its INSTRUCTIONS for itself in </a:t>
            </a:r>
            <a:r>
              <a:rPr lang="en-US" sz="1050">
                <a:solidFill>
                  <a:srgbClr val="0D1B2A"/>
                </a:solidFill>
              </a:rPr>
              <a:t>parallel</a:t>
            </a:r>
            <a:r>
              <a:rPr lang="en-US" sz="1050" dirty="0">
                <a:solidFill>
                  <a:srgbClr val="0D1B2A"/>
                </a:solidFill>
              </a:rPr>
              <a:t> : Quality, Security, Performance, Tests, Docs, Errors, Config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29768" y="3529584"/>
            <a:ext cx="329184" cy="3291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27" name="Text 24"/>
          <p:cNvSpPr/>
          <p:nvPr/>
        </p:nvSpPr>
        <p:spPr>
          <a:xfrm>
            <a:off x="429768" y="35295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50392" y="35204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Each finding is marked Critical, High, Medium, or Low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9768" y="3986784"/>
            <a:ext cx="329184" cy="3291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0" name="Text 27"/>
          <p:cNvSpPr/>
          <p:nvPr/>
        </p:nvSpPr>
        <p:spPr>
          <a:xfrm>
            <a:off x="429768" y="39867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50392" y="39776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Combined into one verdict: Approve, Approve with Notes, or Needs Changes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3192" y="6108192"/>
            <a:ext cx="5321808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3" name="Text 30"/>
          <p:cNvSpPr/>
          <p:nvPr/>
        </p:nvSpPr>
        <p:spPr>
          <a:xfrm>
            <a:off x="457200" y="6108192"/>
            <a:ext cx="51937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Result: A saved CODE-REVIEW report with the verdict and fixes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035040" y="1481328"/>
            <a:ext cx="580644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035040" y="1481328"/>
            <a:ext cx="5806440" cy="54864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36" name="Text 33"/>
          <p:cNvSpPr/>
          <p:nvPr/>
        </p:nvSpPr>
        <p:spPr>
          <a:xfrm>
            <a:off x="6172200" y="1600200"/>
            <a:ext cx="5532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Key Benefits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172200" y="2011680"/>
            <a:ext cx="5532120" cy="4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Checking from 7 angles catches issues one reviewer would miss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A dedicated agent hunts security risks (injection, auth, data leaks)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A dedicated agent flags slow queries and performance problems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Every review is saved as a report, so the team has a clear history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Works at any stage -- PR, branch, or before you commit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1704320" y="6537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4" name="Shape 2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5" name="Text 3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[Review]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93392" y="0"/>
            <a:ext cx="7132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Code Review(AI) -- How It Works</a:t>
            </a:r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10469880" y="91440"/>
            <a:ext cx="566928" cy="566928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8" name="Text 6"/>
          <p:cNvSpPr/>
          <p:nvPr/>
        </p:nvSpPr>
        <p:spPr>
          <a:xfrm>
            <a:off x="10469880" y="91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10" name="Text 8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950976"/>
            <a:ext cx="11521440" cy="420624"/>
          </a:xfrm>
          <a:prstGeom prst="rect">
            <a:avLst/>
          </a:prstGeom>
          <a:solidFill>
            <a:srgbClr val="8B5CF6">
              <a:alpha val="1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57200" y="950976"/>
            <a:ext cx="11338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2A"/>
                </a:solidFill>
              </a:rPr>
              <a:t>One prompt runs a full 7-agent code review and returns a clear verdict -- here is what that looks like.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704320" y="6537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  <p:sp>
        <p:nvSpPr>
          <p:cNvPr id="401" name="r401"/>
          <p:cNvSpPr/>
          <p:nvPr/>
        </p:nvSpPr>
        <p:spPr>
          <a:xfrm>
            <a:off x="320040" y="1481328"/>
            <a:ext cx="548640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2" name="r402"/>
          <p:cNvSpPr/>
          <p:nvPr/>
        </p:nvSpPr>
        <p:spPr>
          <a:xfrm>
            <a:off x="320040" y="1481328"/>
            <a:ext cx="5486400" cy="54864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403" name="t403"/>
          <p:cNvSpPr/>
          <p:nvPr/>
        </p:nvSpPr>
        <p:spPr>
          <a:xfrm>
            <a:off x="620040" y="1600000"/>
            <a:ext cx="4886400" cy="3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What the Review Commander Does</a:t>
            </a:r>
          </a:p>
        </p:txBody>
      </p:sp>
      <p:sp>
        <p:nvSpPr>
          <p:cNvPr id="404" name="r404"/>
          <p:cNvSpPr/>
          <p:nvPr/>
        </p:nvSpPr>
        <p:spPr>
          <a:xfrm>
            <a:off x="620040" y="2120000"/>
            <a:ext cx="300000" cy="3000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405" name="t405"/>
          <p:cNvSpPr/>
          <p:nvPr/>
        </p:nvSpPr>
        <p:spPr>
          <a:xfrm>
            <a:off x="620040" y="212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6" name="t406"/>
          <p:cNvSpPr/>
          <p:nvPr/>
        </p:nvSpPr>
        <p:spPr>
          <a:xfrm>
            <a:off x="1050040" y="205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You point it at the code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pull request, a branch, or your staged changes.</a:t>
            </a:r>
          </a:p>
        </p:txBody>
      </p:sp>
      <p:sp>
        <p:nvSpPr>
          <p:cNvPr id="407" name="r407"/>
          <p:cNvSpPr/>
          <p:nvPr/>
        </p:nvSpPr>
        <p:spPr>
          <a:xfrm>
            <a:off x="620040" y="2940000"/>
            <a:ext cx="300000" cy="3000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408" name="t408"/>
          <p:cNvSpPr/>
          <p:nvPr/>
        </p:nvSpPr>
        <p:spPr>
          <a:xfrm>
            <a:off x="620040" y="294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9" name="t409"/>
          <p:cNvSpPr/>
          <p:nvPr/>
        </p:nvSpPr>
        <p:spPr>
          <a:xfrm>
            <a:off x="1050040" y="287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7 agents review at once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Quality, Security, Performance, Tests, Docs, Errors, Config.</a:t>
            </a:r>
          </a:p>
        </p:txBody>
      </p:sp>
      <p:sp>
        <p:nvSpPr>
          <p:cNvPr id="410" name="r410"/>
          <p:cNvSpPr/>
          <p:nvPr/>
        </p:nvSpPr>
        <p:spPr>
          <a:xfrm>
            <a:off x="620040" y="3760000"/>
            <a:ext cx="300000" cy="3000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411" name="t411"/>
          <p:cNvSpPr/>
          <p:nvPr/>
        </p:nvSpPr>
        <p:spPr>
          <a:xfrm>
            <a:off x="620040" y="376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2" name="t412"/>
          <p:cNvSpPr/>
          <p:nvPr/>
        </p:nvSpPr>
        <p:spPr>
          <a:xfrm>
            <a:off x="1050040" y="369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It rates every finding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Each issue is marked Critical, High, Medium, or Low.</a:t>
            </a:r>
          </a:p>
        </p:txBody>
      </p:sp>
      <p:sp>
        <p:nvSpPr>
          <p:cNvPr id="413" name="r413"/>
          <p:cNvSpPr/>
          <p:nvPr/>
        </p:nvSpPr>
        <p:spPr>
          <a:xfrm>
            <a:off x="620040" y="4580000"/>
            <a:ext cx="300000" cy="3000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414" name="t414"/>
          <p:cNvSpPr/>
          <p:nvPr/>
        </p:nvSpPr>
        <p:spPr>
          <a:xfrm>
            <a:off x="620040" y="458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5" name="t415"/>
          <p:cNvSpPr/>
          <p:nvPr/>
        </p:nvSpPr>
        <p:spPr>
          <a:xfrm>
            <a:off x="1050040" y="451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It gives one verdict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Approve, Approve with Notes, or Needs Changes -- saved to a report.</a:t>
            </a:r>
          </a:p>
        </p:txBody>
      </p:sp>
      <p:sp>
        <p:nvSpPr>
          <p:cNvPr id="416" name="t416"/>
          <p:cNvSpPr/>
          <p:nvPr/>
        </p:nvSpPr>
        <p:spPr>
          <a:xfrm>
            <a:off x="6035040" y="1600000"/>
            <a:ext cx="5806440" cy="3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Example -- review a branch</a:t>
            </a:r>
          </a:p>
        </p:txBody>
      </p:sp>
      <p:sp>
        <p:nvSpPr>
          <p:cNvPr id="417" name="r417"/>
          <p:cNvSpPr/>
          <p:nvPr/>
        </p:nvSpPr>
        <p:spPr>
          <a:xfrm>
            <a:off x="6035040" y="2060000"/>
            <a:ext cx="5806440" cy="760000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418" name="t418"/>
          <p:cNvSpPr/>
          <p:nvPr/>
        </p:nvSpPr>
        <p:spPr>
          <a:xfrm>
            <a:off x="6235040" y="2180000"/>
            <a:ext cx="5406440" cy="5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850" dirty="0">
                <a:solidFill>
                  <a:srgbClr val="94A3B8"/>
                </a:solidFill>
              </a:rPr>
              <a:t>You type:</a:t>
            </a:r>
          </a:p>
          <a:p>
            <a:r>
              <a:rPr lang="en-US" sz="950" dirty="0">
                <a:solidFill>
                  <a:srgbClr val="22D3EE"/>
                </a:solidFill>
                <a:latin typeface="Consolas"/>
                <a:ea typeface="Consolas" pitchFamily="34" charset="-122"/>
                <a:cs typeface="Consolas" pitchFamily="34" charset="-120"/>
              </a:rPr>
              <a:t>/review branch feature/loyalty-points base feat/</a:t>
            </a:r>
            <a:r>
              <a:rPr lang="en-US" sz="950">
                <a:solidFill>
                  <a:srgbClr val="22D3EE"/>
                </a:solidFill>
                <a:latin typeface="Consolas"/>
                <a:ea typeface="Consolas" pitchFamily="34" charset="-122"/>
                <a:cs typeface="Consolas" pitchFamily="34" charset="-120"/>
              </a:rPr>
              <a:t>cr2-phase1</a:t>
            </a:r>
            <a:endParaRPr lang="en-US" sz="950" dirty="0">
              <a:solidFill>
                <a:srgbClr val="22D3EE"/>
              </a:solidFill>
              <a:latin typeface="Consolas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419" name="t419"/>
          <p:cNvSpPr/>
          <p:nvPr/>
        </p:nvSpPr>
        <p:spPr>
          <a:xfrm>
            <a:off x="6035040" y="2920000"/>
            <a:ext cx="580644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produces  ▾</a:t>
            </a:r>
          </a:p>
        </p:txBody>
      </p:sp>
      <p:sp>
        <p:nvSpPr>
          <p:cNvPr id="420" name="r420"/>
          <p:cNvSpPr/>
          <p:nvPr/>
        </p:nvSpPr>
        <p:spPr>
          <a:xfrm>
            <a:off x="6035040" y="3260000"/>
            <a:ext cx="5806440" cy="1520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21" name="t421"/>
          <p:cNvSpPr/>
          <p:nvPr/>
        </p:nvSpPr>
        <p:spPr>
          <a:xfrm>
            <a:off x="6255040" y="3410000"/>
            <a:ext cx="5366440" cy="12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CODE-REVIEW-loyalty-points.md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    1 High  -- fix first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  2 Medium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      3 Low</a:t>
            </a:r>
          </a:p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Verdict: APPROVE WITH COMMENTS</a:t>
            </a:r>
          </a:p>
        </p:txBody>
      </p:sp>
      <p:sp>
        <p:nvSpPr>
          <p:cNvPr id="422" name="r422"/>
          <p:cNvSpPr/>
          <p:nvPr/>
        </p:nvSpPr>
        <p:spPr>
          <a:xfrm>
            <a:off x="6035040" y="4980000"/>
            <a:ext cx="5806440" cy="9000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423" name="t423"/>
          <p:cNvSpPr/>
          <p:nvPr/>
        </p:nvSpPr>
        <p:spPr>
          <a:xfrm>
            <a:off x="6275040" y="4980000"/>
            <a:ext cx="5326440" cy="9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22D3EE"/>
                </a:solidFill>
              </a:rPr>
              <a:t>Why it matters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Problems are caught before merge -- with a clear list of what to fix 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" name="Shape 2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5" name="Text 3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[Bug]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93392" y="0"/>
            <a:ext cx="7132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Bug Fixer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469880" y="91440"/>
            <a:ext cx="566928" cy="566928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8" name="Text 6"/>
          <p:cNvSpPr/>
          <p:nvPr/>
        </p:nvSpPr>
        <p:spPr>
          <a:xfrm>
            <a:off x="10469880" y="91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Bug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10" name="Text 8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/bug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950976"/>
            <a:ext cx="11521440" cy="420624"/>
          </a:xfrm>
          <a:prstGeom prst="rect">
            <a:avLst/>
          </a:prstGeom>
          <a:solidFill>
            <a:srgbClr val="EF4444">
              <a:alpha val="1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57200" y="950976"/>
            <a:ext cx="11338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2A"/>
                </a:solidFill>
              </a:rPr>
              <a:t>Overview: The [Bug] tag hires the Bug Fixer. It searches the code to find the real cause of a defect, isolates it, and fixes it -- search-first, so it changes only what's needed.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481328"/>
            <a:ext cx="548640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481328"/>
            <a:ext cx="5486400" cy="54864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32688" y="1618488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9768" y="2157984"/>
            <a:ext cx="329184" cy="329184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8" name="Text 15"/>
          <p:cNvSpPr/>
          <p:nvPr/>
        </p:nvSpPr>
        <p:spPr>
          <a:xfrm>
            <a:off x="429768" y="21579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50392" y="21488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You describe the bug -- what is wrong and where you saw it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29768" y="2615184"/>
            <a:ext cx="329184" cy="329184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21" name="Text 18"/>
          <p:cNvSpPr/>
          <p:nvPr/>
        </p:nvSpPr>
        <p:spPr>
          <a:xfrm>
            <a:off x="429768" y="26151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50392" y="26060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It searches the code (grep-first) to find where it happens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9768" y="3072384"/>
            <a:ext cx="329184" cy="329184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24" name="Text 21"/>
          <p:cNvSpPr/>
          <p:nvPr/>
        </p:nvSpPr>
        <p:spPr>
          <a:xfrm>
            <a:off x="429768" y="30723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50392" y="30632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It isolates the real cause -- not just the symptom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29768" y="3529584"/>
            <a:ext cx="329184" cy="329184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27" name="Text 24"/>
          <p:cNvSpPr/>
          <p:nvPr/>
        </p:nvSpPr>
        <p:spPr>
          <a:xfrm>
            <a:off x="429768" y="35295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50392" y="35204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It makes the smallest safe fix, matching the app's style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9768" y="3986784"/>
            <a:ext cx="329184" cy="329184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30" name="Text 27"/>
          <p:cNvSpPr/>
          <p:nvPr/>
        </p:nvSpPr>
        <p:spPr>
          <a:xfrm>
            <a:off x="429768" y="39867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50392" y="39776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It explains the cause and what was changed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3192" y="6108192"/>
            <a:ext cx="5321808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3" name="Text 30"/>
          <p:cNvSpPr/>
          <p:nvPr/>
        </p:nvSpPr>
        <p:spPr>
          <a:xfrm>
            <a:off x="457200" y="6108192"/>
            <a:ext cx="51937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Result: A targeted fix, with a short note on the root cause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035040" y="1481328"/>
            <a:ext cx="580644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035040" y="1481328"/>
            <a:ext cx="5806440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6" name="Text 33"/>
          <p:cNvSpPr/>
          <p:nvPr/>
        </p:nvSpPr>
        <p:spPr>
          <a:xfrm>
            <a:off x="6172200" y="1600200"/>
            <a:ext cx="5532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Key Benefits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172200" y="2011680"/>
            <a:ext cx="5532120" cy="4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Search-first: finds the real cause fast, not just the symptom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Makes the smallest safe change -- low risk of side effects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Follows the app's existing patterns, so the fix fits in cleanly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Explains the root cause, so the team learns from each fix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Works with a project tag for extra context (e.g. [Bug][CR2-Phase2])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1704320" y="6537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" name="Shape 2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5" name="Text 3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[Bug]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93392" y="0"/>
            <a:ext cx="7132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Bug Fixer -- How It Works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469880" y="91440"/>
            <a:ext cx="566928" cy="566928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8" name="Text 6"/>
          <p:cNvSpPr/>
          <p:nvPr/>
        </p:nvSpPr>
        <p:spPr>
          <a:xfrm>
            <a:off x="10469880" y="91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10" name="Text 8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/bug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950976"/>
            <a:ext cx="11521440" cy="420624"/>
          </a:xfrm>
          <a:prstGeom prst="rect">
            <a:avLst/>
          </a:prstGeom>
          <a:solidFill>
            <a:srgbClr val="EF4444">
              <a:alpha val="1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57200" y="950976"/>
            <a:ext cx="11338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2A"/>
                </a:solidFill>
              </a:rPr>
              <a:t>One prompt finds the cause of a defect and fixes it -- here is what that looks like.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704320" y="6537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</a:t>
            </a:r>
            <a:endParaRPr lang="en-US" sz="900" dirty="0"/>
          </a:p>
        </p:txBody>
      </p:sp>
      <p:sp>
        <p:nvSpPr>
          <p:cNvPr id="601" name="r601"/>
          <p:cNvSpPr/>
          <p:nvPr/>
        </p:nvSpPr>
        <p:spPr>
          <a:xfrm>
            <a:off x="320040" y="1481328"/>
            <a:ext cx="548640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02" name="r602"/>
          <p:cNvSpPr/>
          <p:nvPr/>
        </p:nvSpPr>
        <p:spPr>
          <a:xfrm>
            <a:off x="320040" y="1481328"/>
            <a:ext cx="5486400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603" name="t603"/>
          <p:cNvSpPr/>
          <p:nvPr/>
        </p:nvSpPr>
        <p:spPr>
          <a:xfrm>
            <a:off x="620040" y="1600000"/>
            <a:ext cx="4886400" cy="3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What the Bug Fixer Does</a:t>
            </a:r>
          </a:p>
        </p:txBody>
      </p:sp>
      <p:sp>
        <p:nvSpPr>
          <p:cNvPr id="604" name="r604"/>
          <p:cNvSpPr/>
          <p:nvPr/>
        </p:nvSpPr>
        <p:spPr>
          <a:xfrm>
            <a:off x="620040" y="2120000"/>
            <a:ext cx="300000" cy="3000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605" name="t605"/>
          <p:cNvSpPr/>
          <p:nvPr/>
        </p:nvSpPr>
        <p:spPr>
          <a:xfrm>
            <a:off x="620040" y="212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06" name="t606"/>
          <p:cNvSpPr/>
          <p:nvPr/>
        </p:nvSpPr>
        <p:spPr>
          <a:xfrm>
            <a:off x="1050040" y="205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You report the bug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 plain words -- what is wrong and where you saw it.</a:t>
            </a:r>
          </a:p>
        </p:txBody>
      </p:sp>
      <p:sp>
        <p:nvSpPr>
          <p:cNvPr id="607" name="r607"/>
          <p:cNvSpPr/>
          <p:nvPr/>
        </p:nvSpPr>
        <p:spPr>
          <a:xfrm>
            <a:off x="620040" y="2940000"/>
            <a:ext cx="300000" cy="3000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608" name="t608"/>
          <p:cNvSpPr/>
          <p:nvPr/>
        </p:nvSpPr>
        <p:spPr>
          <a:xfrm>
            <a:off x="620040" y="294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09" name="t609"/>
          <p:cNvSpPr/>
          <p:nvPr/>
        </p:nvSpPr>
        <p:spPr>
          <a:xfrm>
            <a:off x="1050040" y="287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It searches the code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Grep-first: finds where the problem actually happens.</a:t>
            </a:r>
          </a:p>
        </p:txBody>
      </p:sp>
      <p:sp>
        <p:nvSpPr>
          <p:cNvPr id="610" name="r610"/>
          <p:cNvSpPr/>
          <p:nvPr/>
        </p:nvSpPr>
        <p:spPr>
          <a:xfrm>
            <a:off x="620040" y="3760000"/>
            <a:ext cx="300000" cy="3000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611" name="t611"/>
          <p:cNvSpPr/>
          <p:nvPr/>
        </p:nvSpPr>
        <p:spPr>
          <a:xfrm>
            <a:off x="620040" y="376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12" name="t612"/>
          <p:cNvSpPr/>
          <p:nvPr/>
        </p:nvSpPr>
        <p:spPr>
          <a:xfrm>
            <a:off x="1050040" y="369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It finds the real cause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Isolates the root cause, not just the visible symptom.</a:t>
            </a:r>
          </a:p>
        </p:txBody>
      </p:sp>
      <p:sp>
        <p:nvSpPr>
          <p:cNvPr id="613" name="r613"/>
          <p:cNvSpPr/>
          <p:nvPr/>
        </p:nvSpPr>
        <p:spPr>
          <a:xfrm>
            <a:off x="620040" y="4580000"/>
            <a:ext cx="300000" cy="3000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614" name="t614"/>
          <p:cNvSpPr/>
          <p:nvPr/>
        </p:nvSpPr>
        <p:spPr>
          <a:xfrm>
            <a:off x="620040" y="458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15" name="t615"/>
          <p:cNvSpPr/>
          <p:nvPr/>
        </p:nvSpPr>
        <p:spPr>
          <a:xfrm>
            <a:off x="1050040" y="451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It makes a safe fix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smallest change needed, matching the app's style.</a:t>
            </a:r>
          </a:p>
        </p:txBody>
      </p:sp>
      <p:sp>
        <p:nvSpPr>
          <p:cNvPr id="616" name="t616"/>
          <p:cNvSpPr/>
          <p:nvPr/>
        </p:nvSpPr>
        <p:spPr>
          <a:xfrm>
            <a:off x="6035040" y="1600000"/>
            <a:ext cx="5806440" cy="3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Example -- fix a defect</a:t>
            </a:r>
          </a:p>
        </p:txBody>
      </p:sp>
      <p:sp>
        <p:nvSpPr>
          <p:cNvPr id="617" name="r617"/>
          <p:cNvSpPr/>
          <p:nvPr/>
        </p:nvSpPr>
        <p:spPr>
          <a:xfrm>
            <a:off x="6035040" y="2060000"/>
            <a:ext cx="5806440" cy="1040000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618" name="t618"/>
          <p:cNvSpPr/>
          <p:nvPr/>
        </p:nvSpPr>
        <p:spPr>
          <a:xfrm>
            <a:off x="6235040" y="2180000"/>
            <a:ext cx="5406440" cy="8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850" dirty="0">
                <a:solidFill>
                  <a:srgbClr val="94A3B8"/>
                </a:solidFill>
              </a:rPr>
              <a:t>You type:</a:t>
            </a:r>
          </a:p>
          <a:p>
            <a:pPr>
              <a:spcAft>
                <a:spcPts val="150"/>
              </a:spcAft>
            </a:pPr>
            <a:r>
              <a:rPr lang="en-US" sz="950" dirty="0">
                <a:solidFill>
                  <a:srgbClr val="22D3EE"/>
                </a:solidFill>
                <a:latin typeface="Consolas"/>
                <a:ea typeface="Consolas" pitchFamily="34" charset="-122"/>
                <a:cs typeface="Consolas" pitchFamily="34" charset="-120"/>
              </a:rPr>
              <a:t>/bug </a:t>
            </a:r>
            <a:r>
              <a:rPr lang="en-US" sz="950">
                <a:solidFill>
                  <a:srgbClr val="22D3EE"/>
                </a:solidFill>
                <a:ea typeface="+mn-lt"/>
                <a:cs typeface="+mn-lt"/>
              </a:rPr>
              <a:t>[CR2-Phase2]</a:t>
            </a:r>
            <a:r>
              <a:rPr lang="en-US" sz="950" dirty="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950">
                <a:solidFill>
                  <a:srgbClr val="22D3EE"/>
                </a:solidFill>
                <a:latin typeface="Consolas"/>
                <a:ea typeface="Consolas" pitchFamily="34" charset="-122"/>
                <a:cs typeface="Consolas" pitchFamily="34" charset="-120"/>
              </a:rPr>
              <a:t>Order confirmation email not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sent when payment method is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bank transfer</a:t>
            </a:r>
          </a:p>
        </p:txBody>
      </p:sp>
      <p:sp>
        <p:nvSpPr>
          <p:cNvPr id="619" name="t619"/>
          <p:cNvSpPr/>
          <p:nvPr/>
        </p:nvSpPr>
        <p:spPr>
          <a:xfrm>
            <a:off x="6035040" y="3200000"/>
            <a:ext cx="580644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produces  ▾</a:t>
            </a:r>
          </a:p>
        </p:txBody>
      </p:sp>
      <p:sp>
        <p:nvSpPr>
          <p:cNvPr id="620" name="r620"/>
          <p:cNvSpPr/>
          <p:nvPr/>
        </p:nvSpPr>
        <p:spPr>
          <a:xfrm>
            <a:off x="6035040" y="3540000"/>
            <a:ext cx="5806440" cy="1240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621" name="t621"/>
          <p:cNvSpPr/>
          <p:nvPr/>
        </p:nvSpPr>
        <p:spPr>
          <a:xfrm>
            <a:off x="6255040" y="3690000"/>
            <a:ext cx="5366440" cy="9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cause found:</a:t>
            </a:r>
          </a:p>
          <a:p>
            <a:pPr marL="0" indent="0">
              <a:spcAft>
                <a:spcPts val="12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step skipped for bank</a:t>
            </a:r>
          </a:p>
          <a:p>
            <a:pPr marL="0" indent="0">
              <a:spcAft>
                <a:spcPts val="26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transfer orders</a:t>
            </a:r>
          </a:p>
          <a:p>
            <a:pPr marL="0" indent="0">
              <a:spcAft>
                <a:spcPts val="120"/>
              </a:spcAft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+ 1 file fixed (send-email path)</a:t>
            </a:r>
          </a:p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applied -- email now sends</a:t>
            </a:r>
          </a:p>
        </p:txBody>
      </p:sp>
      <p:sp>
        <p:nvSpPr>
          <p:cNvPr id="622" name="r622"/>
          <p:cNvSpPr/>
          <p:nvPr/>
        </p:nvSpPr>
        <p:spPr>
          <a:xfrm>
            <a:off x="6035040" y="4980000"/>
            <a:ext cx="5806440" cy="9000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623" name="t623"/>
          <p:cNvSpPr/>
          <p:nvPr/>
        </p:nvSpPr>
        <p:spPr>
          <a:xfrm>
            <a:off x="6275040" y="4980000"/>
            <a:ext cx="5326440" cy="9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22D3EE"/>
                </a:solidFill>
              </a:rPr>
              <a:t>Why it matters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The real cause is fixed once -- not patched over the symptom.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-640080"/>
            <a:ext cx="3474720" cy="347472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3108960" cy="384048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6" name="Text 4"/>
          <p:cNvSpPr/>
          <p:nvPr/>
        </p:nvSpPr>
        <p:spPr>
          <a:xfrm>
            <a:off x="502920" y="128016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 3 OF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913632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D3EE"/>
                </a:solidFill>
              </a:rPr>
              <a:t>BAT reports, unit tests, and Playwright automation -- we check every change before it goes live.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617720"/>
            <a:ext cx="2468880" cy="1097280"/>
          </a:xfrm>
          <a:prstGeom prst="rect">
            <a:avLst/>
          </a:prstGeom>
          <a:solidFill>
            <a:srgbClr val="1A2E45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46634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/bat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5212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Ready for QA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4617720"/>
            <a:ext cx="2468880" cy="1097280"/>
          </a:xfrm>
          <a:prstGeom prst="rect">
            <a:avLst/>
          </a:prstGeom>
          <a:solidFill>
            <a:srgbClr val="1A2E45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46634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/unit-test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5212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Code-Level Tests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4617720"/>
            <a:ext cx="2468880" cy="1097280"/>
          </a:xfrm>
          <a:prstGeom prst="rect">
            <a:avLst/>
          </a:prstGeom>
          <a:solidFill>
            <a:srgbClr val="1A2E45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46634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Playwright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5212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Full App Tests</a:t>
            </a:r>
            <a:endParaRPr lang="en-US" sz="10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9601200" y="2286000"/>
            <a:ext cx="2194560" cy="21945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4" name="Shape 2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5" name="Text 3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[BAT]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93392" y="0"/>
            <a:ext cx="7132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BAT Generator Agent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469880" y="91440"/>
            <a:ext cx="566928" cy="566928"/>
          </a:xfrm>
          <a:prstGeom prst="ellipse">
            <a:avLst/>
          </a:prstGeom>
          <a:solidFill>
            <a:srgbClr val="0D1B2A"/>
          </a:solidFill>
        </p:spPr>
      </p:sp>
      <p:sp>
        <p:nvSpPr>
          <p:cNvPr id="8" name="Text 6"/>
          <p:cNvSpPr/>
          <p:nvPr/>
        </p:nvSpPr>
        <p:spPr>
          <a:xfrm>
            <a:off x="10469880" y="91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4/5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10" name="Text 8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/bat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950976"/>
            <a:ext cx="11521440" cy="420624"/>
          </a:xfrm>
          <a:prstGeom prst="rect">
            <a:avLst/>
          </a:prstGeom>
          <a:solidFill>
            <a:srgbClr val="0D1B2A">
              <a:alpha val="1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57200" y="950976"/>
            <a:ext cx="11338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2A"/>
                </a:solidFill>
              </a:rPr>
              <a:t>Overview: The [BAT] tag hires the BAT Generator. It reads a code change (branch, PR, or staged), works out what was affected, and writes a ready-to-use acceptance-test report for the QA team -- no manual test writing.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481328"/>
            <a:ext cx="548640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481328"/>
            <a:ext cx="5486400" cy="54864"/>
          </a:xfrm>
          <a:prstGeom prst="rect">
            <a:avLst/>
          </a:prstGeom>
          <a:solidFill>
            <a:srgbClr val="0D1B2A"/>
          </a:solidFill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32688" y="1618488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9768" y="2157984"/>
            <a:ext cx="329184" cy="329184"/>
          </a:xfrm>
          <a:prstGeom prst="ellipse">
            <a:avLst/>
          </a:prstGeom>
          <a:solidFill>
            <a:srgbClr val="0D1B2A"/>
          </a:solidFill>
        </p:spPr>
      </p:sp>
      <p:sp>
        <p:nvSpPr>
          <p:cNvPr id="18" name="Text 15"/>
          <p:cNvSpPr/>
          <p:nvPr/>
        </p:nvSpPr>
        <p:spPr>
          <a:xfrm>
            <a:off x="429768" y="21579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50392" y="21488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Reads the git diff for a branch, PR, or staged changes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29768" y="2615184"/>
            <a:ext cx="329184" cy="329184"/>
          </a:xfrm>
          <a:prstGeom prst="ellipse">
            <a:avLst/>
          </a:prstGeom>
          <a:solidFill>
            <a:srgbClr val="0D1B2A"/>
          </a:solidFill>
        </p:spPr>
      </p:sp>
      <p:sp>
        <p:nvSpPr>
          <p:cNvPr id="21" name="Text 18"/>
          <p:cNvSpPr/>
          <p:nvPr/>
        </p:nvSpPr>
        <p:spPr>
          <a:xfrm>
            <a:off x="429768" y="26151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50392" y="26060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Finds the affected routes, controllers, templates, and services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9768" y="3072384"/>
            <a:ext cx="329184" cy="329184"/>
          </a:xfrm>
          <a:prstGeom prst="ellipse">
            <a:avLst/>
          </a:prstGeom>
          <a:solidFill>
            <a:srgbClr val="0D1B2A"/>
          </a:solidFill>
        </p:spPr>
      </p:sp>
      <p:sp>
        <p:nvSpPr>
          <p:cNvPr id="24" name="Text 21"/>
          <p:cNvSpPr/>
          <p:nvPr/>
        </p:nvSpPr>
        <p:spPr>
          <a:xfrm>
            <a:off x="429768" y="30723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50392" y="30632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Groups the test cases by module and feature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29768" y="3529584"/>
            <a:ext cx="329184" cy="329184"/>
          </a:xfrm>
          <a:prstGeom prst="ellipse">
            <a:avLst/>
          </a:prstGeom>
          <a:solidFill>
            <a:srgbClr val="0D1B2A"/>
          </a:solidFill>
        </p:spPr>
      </p:sp>
      <p:sp>
        <p:nvSpPr>
          <p:cNvPr id="27" name="Text 24"/>
          <p:cNvSpPr/>
          <p:nvPr/>
        </p:nvSpPr>
        <p:spPr>
          <a:xfrm>
            <a:off x="429768" y="35295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50392" y="35204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Writes Positive, Negative, and Impact-Area test cases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9768" y="3986784"/>
            <a:ext cx="329184" cy="329184"/>
          </a:xfrm>
          <a:prstGeom prst="ellipse">
            <a:avLst/>
          </a:prstGeom>
          <a:solidFill>
            <a:srgbClr val="0D1B2A"/>
          </a:solidFill>
        </p:spPr>
      </p:sp>
      <p:sp>
        <p:nvSpPr>
          <p:cNvPr id="30" name="Text 27"/>
          <p:cNvSpPr/>
          <p:nvPr/>
        </p:nvSpPr>
        <p:spPr>
          <a:xfrm>
            <a:off x="429768" y="39867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50392" y="39776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D1B2A"/>
                </a:solidFill>
              </a:rPr>
              <a:t>Saves a BAT report (Excel) into docs/BAT/</a:t>
            </a:r>
            <a:endParaRPr lang="en-US" sz="1050"/>
          </a:p>
        </p:txBody>
      </p:sp>
      <p:sp>
        <p:nvSpPr>
          <p:cNvPr id="32" name="Shape 29"/>
          <p:cNvSpPr/>
          <p:nvPr/>
        </p:nvSpPr>
        <p:spPr>
          <a:xfrm>
            <a:off x="393192" y="6108192"/>
            <a:ext cx="5321808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3" name="Text 30"/>
          <p:cNvSpPr/>
          <p:nvPr/>
        </p:nvSpPr>
        <p:spPr>
          <a:xfrm>
            <a:off x="457200" y="6108192"/>
            <a:ext cx="51937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Result: BAT_[Module]_[Ticket] report in docs/BAT/, ready for QA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035040" y="1481328"/>
            <a:ext cx="580644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035040" y="1481328"/>
            <a:ext cx="5806440" cy="54864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6" name="Text 33"/>
          <p:cNvSpPr/>
          <p:nvPr/>
        </p:nvSpPr>
        <p:spPr>
          <a:xfrm>
            <a:off x="6172200" y="1600200"/>
            <a:ext cx="5532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Key Benefits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172200" y="2011680"/>
            <a:ext cx="5532120" cy="4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QA gets a ready acceptance-test file the moment coding is done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Covers only what changed -- no extra, unrelated test cases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Positive, Negative, and Impact-Area cases for each module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64748B"/>
                </a:solidFill>
              </a:rPr>
              <a:t>Excel output</a:t>
            </a:r>
            <a:r>
              <a:rPr lang="en-US" sz="1300" dirty="0">
                <a:solidFill>
                  <a:srgbClr val="64748B"/>
                </a:solidFill>
              </a:rPr>
              <a:t> opens straight in QA tools and spreadsheets</a:t>
            </a:r>
            <a:endParaRPr lang="en-US" sz="1300" dirty="0"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Saves hours of manual test writing -- done from one prompt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1704320" y="6537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4" name="Shape 2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5" name="Text 3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[BAT]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93392" y="0"/>
            <a:ext cx="7132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BAT Generator -- How It Works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469880" y="91440"/>
            <a:ext cx="566928" cy="566928"/>
          </a:xfrm>
          <a:prstGeom prst="ellipse">
            <a:avLst/>
          </a:prstGeom>
          <a:solidFill>
            <a:srgbClr val="0D1B2A"/>
          </a:solidFill>
        </p:spPr>
      </p:sp>
      <p:sp>
        <p:nvSpPr>
          <p:cNvPr id="8" name="Text 6"/>
          <p:cNvSpPr/>
          <p:nvPr/>
        </p:nvSpPr>
        <p:spPr>
          <a:xfrm>
            <a:off x="10469880" y="91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10" name="Text 8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/bat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950976"/>
            <a:ext cx="11521440" cy="420624"/>
          </a:xfrm>
          <a:prstGeom prst="rect">
            <a:avLst/>
          </a:prstGeom>
          <a:solidFill>
            <a:srgbClr val="0D1B2A">
              <a:alpha val="1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57200" y="950976"/>
            <a:ext cx="11338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2A"/>
                </a:solidFill>
              </a:rPr>
              <a:t>One prompt turns a code change into a full acceptance-test report -- here is what that looks like.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704320" y="6537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16</a:t>
            </a:r>
            <a:endParaRPr lang="en-US" sz="900" dirty="0"/>
          </a:p>
        </p:txBody>
      </p:sp>
      <p:sp>
        <p:nvSpPr>
          <p:cNvPr id="301" name="r301"/>
          <p:cNvSpPr/>
          <p:nvPr/>
        </p:nvSpPr>
        <p:spPr>
          <a:xfrm>
            <a:off x="320040" y="1481328"/>
            <a:ext cx="548640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2" name="r302"/>
          <p:cNvSpPr/>
          <p:nvPr/>
        </p:nvSpPr>
        <p:spPr>
          <a:xfrm>
            <a:off x="320040" y="1481328"/>
            <a:ext cx="5486400" cy="54864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03" name="t303"/>
          <p:cNvSpPr/>
          <p:nvPr/>
        </p:nvSpPr>
        <p:spPr>
          <a:xfrm>
            <a:off x="620040" y="1600000"/>
            <a:ext cx="4886400" cy="3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What the BAT Generator Does</a:t>
            </a:r>
          </a:p>
        </p:txBody>
      </p:sp>
      <p:sp>
        <p:nvSpPr>
          <p:cNvPr id="304" name="r304"/>
          <p:cNvSpPr/>
          <p:nvPr/>
        </p:nvSpPr>
        <p:spPr>
          <a:xfrm>
            <a:off x="620040" y="2120000"/>
            <a:ext cx="300000" cy="3000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05" name="t305"/>
          <p:cNvSpPr/>
          <p:nvPr/>
        </p:nvSpPr>
        <p:spPr>
          <a:xfrm>
            <a:off x="620040" y="212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6" name="t306"/>
          <p:cNvSpPr/>
          <p:nvPr/>
        </p:nvSpPr>
        <p:spPr>
          <a:xfrm>
            <a:off x="1050040" y="205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You give it a change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branch, a PR, or your staged edits -- nothing else to attach.</a:t>
            </a:r>
          </a:p>
        </p:txBody>
      </p:sp>
      <p:sp>
        <p:nvSpPr>
          <p:cNvPr id="307" name="r307"/>
          <p:cNvSpPr/>
          <p:nvPr/>
        </p:nvSpPr>
        <p:spPr>
          <a:xfrm>
            <a:off x="620040" y="2940000"/>
            <a:ext cx="300000" cy="3000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08" name="t308"/>
          <p:cNvSpPr/>
          <p:nvPr/>
        </p:nvSpPr>
        <p:spPr>
          <a:xfrm>
            <a:off x="620040" y="294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9" name="t309"/>
          <p:cNvSpPr/>
          <p:nvPr/>
        </p:nvSpPr>
        <p:spPr>
          <a:xfrm>
            <a:off x="1050040" y="287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It reads the diff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Finds the affected screens, controllers, and services on its own.</a:t>
            </a:r>
          </a:p>
        </p:txBody>
      </p:sp>
      <p:sp>
        <p:nvSpPr>
          <p:cNvPr id="310" name="r310"/>
          <p:cNvSpPr/>
          <p:nvPr/>
        </p:nvSpPr>
        <p:spPr>
          <a:xfrm>
            <a:off x="620040" y="3760000"/>
            <a:ext cx="300000" cy="3000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11" name="t311"/>
          <p:cNvSpPr/>
          <p:nvPr/>
        </p:nvSpPr>
        <p:spPr>
          <a:xfrm>
            <a:off x="620040" y="376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2" name="t312"/>
          <p:cNvSpPr/>
          <p:nvPr/>
        </p:nvSpPr>
        <p:spPr>
          <a:xfrm>
            <a:off x="1050040" y="369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It writes the test cases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Positive (works), Negative (fails safely), and Impact-Area checks.</a:t>
            </a:r>
          </a:p>
        </p:txBody>
      </p:sp>
      <p:sp>
        <p:nvSpPr>
          <p:cNvPr id="313" name="r313"/>
          <p:cNvSpPr/>
          <p:nvPr/>
        </p:nvSpPr>
        <p:spPr>
          <a:xfrm>
            <a:off x="620040" y="4580000"/>
            <a:ext cx="300000" cy="3000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14" name="t314"/>
          <p:cNvSpPr/>
          <p:nvPr/>
        </p:nvSpPr>
        <p:spPr>
          <a:xfrm>
            <a:off x="620040" y="458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5" name="t315"/>
          <p:cNvSpPr/>
          <p:nvPr/>
        </p:nvSpPr>
        <p:spPr>
          <a:xfrm>
            <a:off x="1050040" y="451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It saves a report</a:t>
            </a:r>
          </a:p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An Excel file in docs/BAT/, grouped by module -- ready for QA.</a:t>
            </a:r>
            <a:endParaRPr lang="en-US" sz="105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316" name="t316"/>
          <p:cNvSpPr/>
          <p:nvPr/>
        </p:nvSpPr>
        <p:spPr>
          <a:xfrm>
            <a:off x="6035040" y="1600000"/>
            <a:ext cx="5806440" cy="3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Example -- generate BAT for a branch</a:t>
            </a:r>
          </a:p>
        </p:txBody>
      </p:sp>
      <p:sp>
        <p:nvSpPr>
          <p:cNvPr id="317" name="r317"/>
          <p:cNvSpPr/>
          <p:nvPr/>
        </p:nvSpPr>
        <p:spPr>
          <a:xfrm>
            <a:off x="6035040" y="2060000"/>
            <a:ext cx="5806440" cy="760000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318" name="t318"/>
          <p:cNvSpPr/>
          <p:nvPr/>
        </p:nvSpPr>
        <p:spPr>
          <a:xfrm>
            <a:off x="6235040" y="2180000"/>
            <a:ext cx="5406440" cy="5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850" dirty="0">
                <a:solidFill>
                  <a:srgbClr val="94A3B8"/>
                </a:solidFill>
              </a:rPr>
              <a:t>You type:</a:t>
            </a:r>
          </a:p>
          <a:p>
            <a:r>
              <a:rPr lang="en-US" sz="1000">
                <a:solidFill>
                  <a:srgbClr val="22D3EE"/>
                </a:solidFill>
                <a:latin typeface="Consolas"/>
                <a:ea typeface="Consolas" pitchFamily="34" charset="-122"/>
                <a:cs typeface="Consolas" pitchFamily="34" charset="-120"/>
              </a:rPr>
              <a:t>/bat branch feat/P1709-733-posdata base feat/cr1.2</a:t>
            </a:r>
            <a:endParaRPr lang="en-US" sz="1000" dirty="0">
              <a:solidFill>
                <a:srgbClr val="22D3EE"/>
              </a:solidFill>
              <a:latin typeface="Consolas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319" name="t319"/>
          <p:cNvSpPr/>
          <p:nvPr/>
        </p:nvSpPr>
        <p:spPr>
          <a:xfrm>
            <a:off x="6035040" y="2920000"/>
            <a:ext cx="580644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produces  ▾</a:t>
            </a:r>
          </a:p>
        </p:txBody>
      </p:sp>
      <p:sp>
        <p:nvSpPr>
          <p:cNvPr id="320" name="r320"/>
          <p:cNvSpPr/>
          <p:nvPr/>
        </p:nvSpPr>
        <p:spPr>
          <a:xfrm>
            <a:off x="6035040" y="3260000"/>
            <a:ext cx="5806440" cy="1520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21" name="t321"/>
          <p:cNvSpPr/>
          <p:nvPr/>
        </p:nvSpPr>
        <p:spPr>
          <a:xfrm>
            <a:off x="6255040" y="3410000"/>
            <a:ext cx="5366440" cy="12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50"/>
              </a:spcAft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docs/BAT/BAT_PosData_P1709-733.csv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   Case      Expected result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PosData   Positive  Saves and shows the total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PosData   Negative  Blocks an empty amount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PosData   Impact    Order list still loads</a:t>
            </a:r>
          </a:p>
        </p:txBody>
      </p:sp>
      <p:sp>
        <p:nvSpPr>
          <p:cNvPr id="322" name="r322"/>
          <p:cNvSpPr/>
          <p:nvPr/>
        </p:nvSpPr>
        <p:spPr>
          <a:xfrm>
            <a:off x="6035040" y="4980000"/>
            <a:ext cx="5806440" cy="9000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23" name="t323"/>
          <p:cNvSpPr/>
          <p:nvPr/>
        </p:nvSpPr>
        <p:spPr>
          <a:xfrm>
            <a:off x="6275040" y="4980000"/>
            <a:ext cx="5326440" cy="9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22D3EE"/>
                </a:solidFill>
              </a:rPr>
              <a:t>Why it matters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QA starts testing the same day -- no one writes test cases by hand.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5" name="Text 3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[Unit Test]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93392" y="0"/>
            <a:ext cx="7132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 Engineer Agent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469880" y="91440"/>
            <a:ext cx="566928" cy="566928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" name="Text 6"/>
          <p:cNvSpPr/>
          <p:nvPr/>
        </p:nvSpPr>
        <p:spPr>
          <a:xfrm>
            <a:off x="10469880" y="91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5/5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10" name="Text 8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/unit-test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950976"/>
            <a:ext cx="11521440" cy="420624"/>
          </a:xfrm>
          <a:prstGeom prst="rect">
            <a:avLst/>
          </a:prstGeom>
          <a:solidFill>
            <a:srgbClr val="10B981">
              <a:alpha val="1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57200" y="950976"/>
            <a:ext cx="11338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2A"/>
                </a:solidFill>
              </a:rPr>
              <a:t>Overview: The [Unit Test] tag hires the Test Engineer. It compares your feature branch to its base, finds the testable code, writes unit / integration tests, and runs them -- so you know the code works right away.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481328"/>
            <a:ext cx="548640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481328"/>
            <a:ext cx="5486400" cy="54864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32688" y="1618488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9768" y="2157984"/>
            <a:ext cx="329184" cy="32918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8" name="Text 15"/>
          <p:cNvSpPr/>
          <p:nvPr/>
        </p:nvSpPr>
        <p:spPr>
          <a:xfrm>
            <a:off x="429768" y="21579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50392" y="21488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Compares the feature branch against its base branch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29768" y="2615184"/>
            <a:ext cx="329184" cy="32918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1" name="Text 18"/>
          <p:cNvSpPr/>
          <p:nvPr/>
        </p:nvSpPr>
        <p:spPr>
          <a:xfrm>
            <a:off x="429768" y="26151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50392" y="26060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Finds the changed PHP files that can be tested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9768" y="3072384"/>
            <a:ext cx="329184" cy="32918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4" name="Text 21"/>
          <p:cNvSpPr/>
          <p:nvPr/>
        </p:nvSpPr>
        <p:spPr>
          <a:xfrm>
            <a:off x="429768" y="30723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50392" y="30632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Writes clear tests using the Arrange-Act-Assert pattern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29768" y="3529584"/>
            <a:ext cx="329184" cy="32918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7" name="Text 24"/>
          <p:cNvSpPr/>
          <p:nvPr/>
        </p:nvSpPr>
        <p:spPr>
          <a:xfrm>
            <a:off x="429768" y="35295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50392" y="35204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Uses data providers to cover edge cases in one test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9768" y="3986784"/>
            <a:ext cx="329184" cy="32918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0" name="Text 27"/>
          <p:cNvSpPr/>
          <p:nvPr/>
        </p:nvSpPr>
        <p:spPr>
          <a:xfrm>
            <a:off x="429768" y="39867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50392" y="397764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Runs the tests (unit or integration) and reports pass/fail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3192" y="6108192"/>
            <a:ext cx="5321808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3" name="Text 30"/>
          <p:cNvSpPr/>
          <p:nvPr/>
        </p:nvSpPr>
        <p:spPr>
          <a:xfrm>
            <a:off x="457200" y="6108192"/>
            <a:ext cx="51937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Result: Test files plus a pass/fail run summary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035040" y="1481328"/>
            <a:ext cx="580644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035040" y="1481328"/>
            <a:ext cx="580644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6" name="Text 33"/>
          <p:cNvSpPr/>
          <p:nvPr/>
        </p:nvSpPr>
        <p:spPr>
          <a:xfrm>
            <a:off x="6172200" y="1600200"/>
            <a:ext cx="5532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Key Benefits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172200" y="2011680"/>
            <a:ext cx="5532120" cy="4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Diff-driven: only tests what changed -- no wasted effort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Arrange-Act-Assert tests are easy to read and maintain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Data providers catch edge cases developers often miss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Runs immediately and shows a clear pass/fail result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Supports both pure unit tests and full integration tests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1704320" y="6537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5" name="Text 3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[Unit Test]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93392" y="0"/>
            <a:ext cx="7132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 Engineer -- How It Works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469880" y="91440"/>
            <a:ext cx="566928" cy="566928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" name="Text 6"/>
          <p:cNvSpPr/>
          <p:nvPr/>
        </p:nvSpPr>
        <p:spPr>
          <a:xfrm>
            <a:off x="10469880" y="91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10" name="Text 8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/unit-test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950976"/>
            <a:ext cx="11521440" cy="420624"/>
          </a:xfrm>
          <a:prstGeom prst="rect">
            <a:avLst/>
          </a:prstGeom>
          <a:solidFill>
            <a:srgbClr val="10B981">
              <a:alpha val="1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57200" y="950976"/>
            <a:ext cx="11338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2A"/>
                </a:solidFill>
              </a:rPr>
              <a:t>One prompt writes and runs the tests for your latest change -- here is what that looks like.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704320" y="6537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18</a:t>
            </a:r>
            <a:endParaRPr lang="en-US" sz="900" dirty="0"/>
          </a:p>
        </p:txBody>
      </p:sp>
      <p:sp>
        <p:nvSpPr>
          <p:cNvPr id="301" name="r301"/>
          <p:cNvSpPr/>
          <p:nvPr/>
        </p:nvSpPr>
        <p:spPr>
          <a:xfrm>
            <a:off x="320040" y="1481328"/>
            <a:ext cx="548640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2" name="r302"/>
          <p:cNvSpPr/>
          <p:nvPr/>
        </p:nvSpPr>
        <p:spPr>
          <a:xfrm>
            <a:off x="320040" y="1481328"/>
            <a:ext cx="548640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03" name="t303"/>
          <p:cNvSpPr/>
          <p:nvPr/>
        </p:nvSpPr>
        <p:spPr>
          <a:xfrm>
            <a:off x="620040" y="1600000"/>
            <a:ext cx="4886400" cy="3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What the Test Engineer Does</a:t>
            </a:r>
          </a:p>
        </p:txBody>
      </p:sp>
      <p:sp>
        <p:nvSpPr>
          <p:cNvPr id="304" name="r304"/>
          <p:cNvSpPr/>
          <p:nvPr/>
        </p:nvSpPr>
        <p:spPr>
          <a:xfrm>
            <a:off x="620040" y="2120000"/>
            <a:ext cx="300000" cy="300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05" name="t305"/>
          <p:cNvSpPr/>
          <p:nvPr/>
        </p:nvSpPr>
        <p:spPr>
          <a:xfrm>
            <a:off x="620040" y="212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6" name="t306"/>
          <p:cNvSpPr/>
          <p:nvPr/>
        </p:nvSpPr>
        <p:spPr>
          <a:xfrm>
            <a:off x="1050040" y="205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You name the branches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Your feature branch and the base it started from.</a:t>
            </a:r>
          </a:p>
        </p:txBody>
      </p:sp>
      <p:sp>
        <p:nvSpPr>
          <p:cNvPr id="307" name="r307"/>
          <p:cNvSpPr/>
          <p:nvPr/>
        </p:nvSpPr>
        <p:spPr>
          <a:xfrm>
            <a:off x="620040" y="2940000"/>
            <a:ext cx="300000" cy="300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08" name="t308"/>
          <p:cNvSpPr/>
          <p:nvPr/>
        </p:nvSpPr>
        <p:spPr>
          <a:xfrm>
            <a:off x="620040" y="294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9" name="t309"/>
          <p:cNvSpPr/>
          <p:nvPr/>
        </p:nvSpPr>
        <p:spPr>
          <a:xfrm>
            <a:off x="1050040" y="287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It finds what to test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Compares the two and picks the changed code that can be tested.</a:t>
            </a:r>
          </a:p>
        </p:txBody>
      </p:sp>
      <p:sp>
        <p:nvSpPr>
          <p:cNvPr id="310" name="r310"/>
          <p:cNvSpPr/>
          <p:nvPr/>
        </p:nvSpPr>
        <p:spPr>
          <a:xfrm>
            <a:off x="620040" y="3760000"/>
            <a:ext cx="300000" cy="300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11" name="t311"/>
          <p:cNvSpPr/>
          <p:nvPr/>
        </p:nvSpPr>
        <p:spPr>
          <a:xfrm>
            <a:off x="620040" y="376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2" name="t312"/>
          <p:cNvSpPr/>
          <p:nvPr/>
        </p:nvSpPr>
        <p:spPr>
          <a:xfrm>
            <a:off x="1050040" y="369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It writes the tests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Clear Arrange-Act-Assert tests, with edge cases covered.</a:t>
            </a:r>
          </a:p>
        </p:txBody>
      </p:sp>
      <p:sp>
        <p:nvSpPr>
          <p:cNvPr id="313" name="r313"/>
          <p:cNvSpPr/>
          <p:nvPr/>
        </p:nvSpPr>
        <p:spPr>
          <a:xfrm>
            <a:off x="620040" y="4580000"/>
            <a:ext cx="300000" cy="300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14" name="t314"/>
          <p:cNvSpPr/>
          <p:nvPr/>
        </p:nvSpPr>
        <p:spPr>
          <a:xfrm>
            <a:off x="620040" y="458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5" name="t315"/>
          <p:cNvSpPr/>
          <p:nvPr/>
        </p:nvSpPr>
        <p:spPr>
          <a:xfrm>
            <a:off x="1050040" y="4510000"/>
            <a:ext cx="4456400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1B2A"/>
                </a:solidFill>
              </a:rPr>
              <a:t>It runs them for you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Runs unit or integration tests and shows a pass/fail summary.</a:t>
            </a:r>
          </a:p>
        </p:txBody>
      </p:sp>
      <p:sp>
        <p:nvSpPr>
          <p:cNvPr id="316" name="t316"/>
          <p:cNvSpPr/>
          <p:nvPr/>
        </p:nvSpPr>
        <p:spPr>
          <a:xfrm>
            <a:off x="6035040" y="1600000"/>
            <a:ext cx="5806440" cy="3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Example -- test a feature branch</a:t>
            </a:r>
          </a:p>
        </p:txBody>
      </p:sp>
      <p:sp>
        <p:nvSpPr>
          <p:cNvPr id="317" name="r317"/>
          <p:cNvSpPr/>
          <p:nvPr/>
        </p:nvSpPr>
        <p:spPr>
          <a:xfrm>
            <a:off x="6035040" y="2060000"/>
            <a:ext cx="5806440" cy="960000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318" name="t318"/>
          <p:cNvSpPr/>
          <p:nvPr/>
        </p:nvSpPr>
        <p:spPr>
          <a:xfrm>
            <a:off x="6235040" y="2180000"/>
            <a:ext cx="5406440" cy="7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850" dirty="0">
                <a:solidFill>
                  <a:srgbClr val="94A3B8"/>
                </a:solidFill>
              </a:rPr>
              <a:t>You type: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/unit-test branch feat/1709632-barcode</a:t>
            </a:r>
          </a:p>
          <a:p>
            <a:pPr marL="0" indent="0">
              <a:buNone/>
            </a:pPr>
            <a:r>
              <a:rPr lang="en-US" sz="950">
                <a:solidFill>
                  <a:srgbClr val="22D3EE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base cr4-phase1</a:t>
            </a:r>
            <a:endParaRPr lang="en-US" sz="950">
              <a:solidFill>
                <a:srgbClr val="22D3E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319" name="t319"/>
          <p:cNvSpPr/>
          <p:nvPr/>
        </p:nvSpPr>
        <p:spPr>
          <a:xfrm>
            <a:off x="6035040" y="3120000"/>
            <a:ext cx="580644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produces  ▾</a:t>
            </a:r>
          </a:p>
        </p:txBody>
      </p:sp>
      <p:sp>
        <p:nvSpPr>
          <p:cNvPr id="320" name="r320"/>
          <p:cNvSpPr/>
          <p:nvPr/>
        </p:nvSpPr>
        <p:spPr>
          <a:xfrm>
            <a:off x="6035040" y="3460000"/>
            <a:ext cx="5806440" cy="1320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21" name="t321"/>
          <p:cNvSpPr/>
          <p:nvPr/>
        </p:nvSpPr>
        <p:spPr>
          <a:xfrm>
            <a:off x="6255040" y="3610000"/>
            <a:ext cx="5366440" cy="10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tests/.../BarcodeServiceTest.php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scans a valid barcode</a:t>
            </a:r>
          </a:p>
          <a:p>
            <a:pPr marL="0" indent="0">
              <a:spcAft>
                <a:spcPts val="25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rejects an unknown barcode</a:t>
            </a:r>
          </a:p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 2 passed  (0 failed)</a:t>
            </a:r>
          </a:p>
        </p:txBody>
      </p:sp>
      <p:sp>
        <p:nvSpPr>
          <p:cNvPr id="322" name="r322"/>
          <p:cNvSpPr/>
          <p:nvPr/>
        </p:nvSpPr>
        <p:spPr>
          <a:xfrm>
            <a:off x="6035040" y="4980000"/>
            <a:ext cx="5806440" cy="9000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23" name="t323"/>
          <p:cNvSpPr/>
          <p:nvPr/>
        </p:nvSpPr>
        <p:spPr>
          <a:xfrm>
            <a:off x="6275040" y="4980000"/>
            <a:ext cx="5326440" cy="9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22D3EE"/>
                </a:solidFill>
              </a:rPr>
              <a:t>Why it matters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You confirm the new code works before it ever leaves your machine.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5" name="Text 3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[Playwright]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93392" y="0"/>
            <a:ext cx="7132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 Automation with Playwright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469880" y="91440"/>
            <a:ext cx="566928" cy="566928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" name="Text 6"/>
          <p:cNvSpPr/>
          <p:nvPr/>
        </p:nvSpPr>
        <p:spPr>
          <a:xfrm>
            <a:off x="10469880" y="91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E2E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10" name="Text 8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950976"/>
            <a:ext cx="11521440" cy="420624"/>
          </a:xfrm>
          <a:prstGeom prst="rect">
            <a:avLst/>
          </a:prstGeom>
          <a:solidFill>
            <a:srgbClr val="10B981">
              <a:alpha val="1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57200" y="950976"/>
            <a:ext cx="11338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2A"/>
                </a:solidFill>
              </a:rPr>
              <a:t>End-to-end testing that opens the real app in a browser and checks it behaves correctly for the user.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481328"/>
            <a:ext cx="548640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481328"/>
            <a:ext cx="548640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6" name="Text 13"/>
          <p:cNvSpPr/>
          <p:nvPr/>
        </p:nvSpPr>
        <p:spPr>
          <a:xfrm>
            <a:off x="932688" y="1618488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Overview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035040" y="1481328"/>
            <a:ext cx="5806440" cy="508406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035040" y="1481328"/>
            <a:ext cx="580644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6" name="Text 33"/>
          <p:cNvSpPr/>
          <p:nvPr/>
        </p:nvSpPr>
        <p:spPr>
          <a:xfrm>
            <a:off x="6172200" y="1600200"/>
            <a:ext cx="5532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Key Benefits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172200" y="2011680"/>
            <a:ext cx="5532120" cy="4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Tests on all major browsers at once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Waits for the page automatically -- no guessing with timers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Shows exactly what happened when a test fails, with screenshots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Runs fast enough to check every single code change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Works together with unit tests -- one checks the logic, the other checks the screen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1704320" y="6537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19</a:t>
            </a:r>
            <a:endParaRPr lang="en-US" sz="900" dirty="0"/>
          </a:p>
        </p:txBody>
      </p:sp>
      <p:sp>
        <p:nvSpPr>
          <p:cNvPr id="777" name="OverviewText"/>
          <p:cNvSpPr/>
          <p:nvPr/>
        </p:nvSpPr>
        <p:spPr>
          <a:xfrm>
            <a:off x="620040" y="2180000"/>
            <a:ext cx="4886400" cy="40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64748B"/>
                </a:solidFill>
              </a:rPr>
              <a:t>Playwright is the tool we use for end-to-end (E2E) testing -- it drives a real browser the way a user would.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4748B"/>
                </a:solidFill>
              </a:rPr>
              <a:t>Where the other tests check the code, Playwright checks the whole screen:</a:t>
            </a:r>
          </a:p>
          <a:p>
            <a:pPr marL="228600" indent="-228600">
              <a:spcAft>
                <a:spcPts val="350"/>
              </a:spcAft>
              <a:buSzPct val="90000"/>
              <a:buChar char="•"/>
            </a:pPr>
            <a:r>
              <a:rPr lang="en-US" sz="1200" b="1" dirty="0">
                <a:solidFill>
                  <a:srgbClr val="0D1B2A"/>
                </a:solidFill>
              </a:rPr>
              <a:t>It opens the app in a browser (Chrome, Firefox, Safari)</a:t>
            </a:r>
          </a:p>
          <a:p>
            <a:pPr marL="228600" indent="-228600">
              <a:spcAft>
                <a:spcPts val="350"/>
              </a:spcAft>
              <a:buSzPct val="90000"/>
              <a:buChar char="•"/>
            </a:pPr>
            <a:r>
              <a:rPr lang="en-US" sz="1200" b="1" dirty="0">
                <a:solidFill>
                  <a:srgbClr val="0D1B2A"/>
                </a:solidFill>
              </a:rPr>
              <a:t>It clicks, types, and navigates like a real customer</a:t>
            </a:r>
          </a:p>
          <a:p>
            <a:pPr marL="228600" indent="-228600">
              <a:spcAft>
                <a:spcPts val="350"/>
              </a:spcAft>
              <a:buSzPct val="90000"/>
              <a:buChar char="•"/>
            </a:pPr>
            <a:r>
              <a:rPr lang="en-US" sz="1200" b="1" dirty="0">
                <a:solidFill>
                  <a:srgbClr val="0D1B2A"/>
                </a:solidFill>
              </a:rPr>
              <a:t>It confirms each screen behaves correctly, end to end</a:t>
            </a:r>
          </a:p>
          <a:p>
            <a:pPr marL="228600" indent="-228600">
              <a:spcAft>
                <a:spcPts val="700"/>
              </a:spcAft>
              <a:buSzPct val="90000"/>
              <a:buChar char="•"/>
            </a:pPr>
            <a:r>
              <a:rPr lang="en-US" sz="1200" b="1" dirty="0">
                <a:solidFill>
                  <a:srgbClr val="0D1B2A"/>
                </a:solidFill>
              </a:rPr>
              <a:t>It runs on its own on every code change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Three AI agents -- Planner, Generator, Healer -- build and maintain these tests (next slide).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5" name="Text 3"/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[Playwright]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93392" y="0"/>
            <a:ext cx="7132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Playwright: Plan -&gt; Generate -&gt; Heal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469880" y="91440"/>
            <a:ext cx="566928" cy="566928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" name="Text 6"/>
          <p:cNvSpPr/>
          <p:nvPr/>
        </p:nvSpPr>
        <p:spPr>
          <a:xfrm>
            <a:off x="10469880" y="91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10" name="Text 8"/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950976"/>
            <a:ext cx="11521440" cy="420624"/>
          </a:xfrm>
          <a:prstGeom prst="rect">
            <a:avLst/>
          </a:prstGeom>
          <a:solidFill>
            <a:srgbClr val="10B981">
              <a:alpha val="12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57200" y="950976"/>
            <a:ext cx="11338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2A"/>
                </a:solidFill>
              </a:rPr>
              <a:t>Three AI agents work together to build and maintain the tests -- from a plan to a passing suite.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704320" y="6537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20</a:t>
            </a:r>
            <a:endParaRPr lang="en-US" sz="900" dirty="0"/>
          </a:p>
        </p:txBody>
      </p:sp>
      <p:sp>
        <p:nvSpPr>
          <p:cNvPr id="201" name="r201"/>
          <p:cNvSpPr/>
          <p:nvPr/>
        </p:nvSpPr>
        <p:spPr>
          <a:xfrm>
            <a:off x="320040" y="1481328"/>
            <a:ext cx="3698240" cy="3352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2" name="r202"/>
          <p:cNvSpPr/>
          <p:nvPr/>
        </p:nvSpPr>
        <p:spPr>
          <a:xfrm>
            <a:off x="320040" y="1481328"/>
            <a:ext cx="369824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03" name="t203"/>
          <p:cNvSpPr/>
          <p:nvPr/>
        </p:nvSpPr>
        <p:spPr>
          <a:xfrm>
            <a:off x="580040" y="1600000"/>
            <a:ext cx="3178240" cy="3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1. Planner</a:t>
            </a:r>
          </a:p>
        </p:txBody>
      </p:sp>
      <p:sp>
        <p:nvSpPr>
          <p:cNvPr id="204" name="t204"/>
          <p:cNvSpPr/>
          <p:nvPr/>
        </p:nvSpPr>
        <p:spPr>
          <a:xfrm>
            <a:off x="580040" y="1980000"/>
            <a:ext cx="317824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Plans the test cases</a:t>
            </a:r>
          </a:p>
        </p:txBody>
      </p:sp>
      <p:sp>
        <p:nvSpPr>
          <p:cNvPr id="205" name="t205"/>
          <p:cNvSpPr/>
          <p:nvPr/>
        </p:nvSpPr>
        <p:spPr>
          <a:xfrm>
            <a:off x="580040" y="2330000"/>
            <a:ext cx="3178240" cy="9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Reads the spec, requirement, or screen flow and lists every case to test -- positive and negative.</a:t>
            </a:r>
          </a:p>
        </p:txBody>
      </p:sp>
      <p:sp>
        <p:nvSpPr>
          <p:cNvPr id="206" name="t206"/>
          <p:cNvSpPr/>
          <p:nvPr/>
        </p:nvSpPr>
        <p:spPr>
          <a:xfrm>
            <a:off x="580040" y="3270000"/>
            <a:ext cx="3178240" cy="2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Example -- login plan</a:t>
            </a:r>
          </a:p>
        </p:txBody>
      </p:sp>
      <p:sp>
        <p:nvSpPr>
          <p:cNvPr id="207" name="r207"/>
          <p:cNvSpPr/>
          <p:nvPr/>
        </p:nvSpPr>
        <p:spPr>
          <a:xfrm>
            <a:off x="500040" y="3540000"/>
            <a:ext cx="3338240" cy="1200000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208" name="t208"/>
          <p:cNvSpPr/>
          <p:nvPr/>
        </p:nvSpPr>
        <p:spPr>
          <a:xfrm>
            <a:off x="640040" y="3660000"/>
            <a:ext cx="3058240" cy="10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Successful login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Empty email / password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Wrong password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Unregistered email</a:t>
            </a:r>
          </a:p>
        </p:txBody>
      </p:sp>
      <p:sp>
        <p:nvSpPr>
          <p:cNvPr id="209" name="r209"/>
          <p:cNvSpPr/>
          <p:nvPr/>
        </p:nvSpPr>
        <p:spPr>
          <a:xfrm>
            <a:off x="4246880" y="1481328"/>
            <a:ext cx="3698240" cy="3352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0" name="r210"/>
          <p:cNvSpPr/>
          <p:nvPr/>
        </p:nvSpPr>
        <p:spPr>
          <a:xfrm>
            <a:off x="4246880" y="1481328"/>
            <a:ext cx="369824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1" name="t211"/>
          <p:cNvSpPr/>
          <p:nvPr/>
        </p:nvSpPr>
        <p:spPr>
          <a:xfrm>
            <a:off x="4506880" y="1600000"/>
            <a:ext cx="3178240" cy="3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2. Generator</a:t>
            </a:r>
          </a:p>
        </p:txBody>
      </p:sp>
      <p:sp>
        <p:nvSpPr>
          <p:cNvPr id="212" name="t212"/>
          <p:cNvSpPr/>
          <p:nvPr/>
        </p:nvSpPr>
        <p:spPr>
          <a:xfrm>
            <a:off x="4506880" y="1980000"/>
            <a:ext cx="317824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Writes the test code</a:t>
            </a:r>
          </a:p>
        </p:txBody>
      </p:sp>
      <p:sp>
        <p:nvSpPr>
          <p:cNvPr id="213" name="t213"/>
          <p:cNvSpPr/>
          <p:nvPr/>
        </p:nvSpPr>
        <p:spPr>
          <a:xfrm>
            <a:off x="4506880" y="2330000"/>
            <a:ext cx="3178240" cy="9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Turns each planned case into a real, runnable Playwright test file.</a:t>
            </a:r>
          </a:p>
        </p:txBody>
      </p:sp>
      <p:sp>
        <p:nvSpPr>
          <p:cNvPr id="214" name="t214"/>
          <p:cNvSpPr/>
          <p:nvPr/>
        </p:nvSpPr>
        <p:spPr>
          <a:xfrm>
            <a:off x="4506880" y="3270000"/>
            <a:ext cx="3178240" cy="2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Example -- 'empty email' test</a:t>
            </a:r>
          </a:p>
        </p:txBody>
      </p:sp>
      <p:sp>
        <p:nvSpPr>
          <p:cNvPr id="215" name="r215"/>
          <p:cNvSpPr/>
          <p:nvPr/>
        </p:nvSpPr>
        <p:spPr>
          <a:xfrm>
            <a:off x="4426880" y="3540000"/>
            <a:ext cx="3338240" cy="1200000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216" name="t216"/>
          <p:cNvSpPr/>
          <p:nvPr/>
        </p:nvSpPr>
        <p:spPr>
          <a:xfrm>
            <a:off x="4566880" y="3660000"/>
            <a:ext cx="3058240" cy="10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fill(password, 'Admin@12345')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click('Login')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expect('email is required')</a:t>
            </a:r>
          </a:p>
        </p:txBody>
      </p:sp>
      <p:sp>
        <p:nvSpPr>
          <p:cNvPr id="217" name="r217"/>
          <p:cNvSpPr/>
          <p:nvPr/>
        </p:nvSpPr>
        <p:spPr>
          <a:xfrm>
            <a:off x="8173720" y="1481328"/>
            <a:ext cx="3698240" cy="3352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8" name="r218"/>
          <p:cNvSpPr/>
          <p:nvPr/>
        </p:nvSpPr>
        <p:spPr>
          <a:xfrm>
            <a:off x="8173720" y="1481328"/>
            <a:ext cx="369824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9" name="t219"/>
          <p:cNvSpPr/>
          <p:nvPr/>
        </p:nvSpPr>
        <p:spPr>
          <a:xfrm>
            <a:off x="8433720" y="1600000"/>
            <a:ext cx="3178240" cy="3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3. Healer</a:t>
            </a:r>
          </a:p>
        </p:txBody>
      </p:sp>
      <p:sp>
        <p:nvSpPr>
          <p:cNvPr id="220" name="t220"/>
          <p:cNvSpPr/>
          <p:nvPr/>
        </p:nvSpPr>
        <p:spPr>
          <a:xfrm>
            <a:off x="8433720" y="1980000"/>
            <a:ext cx="317824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Fixes broken tests</a:t>
            </a:r>
          </a:p>
        </p:txBody>
      </p:sp>
      <p:sp>
        <p:nvSpPr>
          <p:cNvPr id="221" name="t221"/>
          <p:cNvSpPr/>
          <p:nvPr/>
        </p:nvSpPr>
        <p:spPr>
          <a:xfrm>
            <a:off x="8433720" y="2330000"/>
            <a:ext cx="3178240" cy="9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Runs the tests and repairs any that fail, so the whole suite passes with no test errors.</a:t>
            </a:r>
          </a:p>
        </p:txBody>
      </p:sp>
      <p:sp>
        <p:nvSpPr>
          <p:cNvPr id="222" name="t222"/>
          <p:cNvSpPr/>
          <p:nvPr/>
        </p:nvSpPr>
        <p:spPr>
          <a:xfrm>
            <a:off x="8433720" y="3270000"/>
            <a:ext cx="3178240" cy="2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Example -- fixed flaky test</a:t>
            </a:r>
          </a:p>
        </p:txBody>
      </p:sp>
      <p:sp>
        <p:nvSpPr>
          <p:cNvPr id="223" name="r223"/>
          <p:cNvSpPr/>
          <p:nvPr/>
        </p:nvSpPr>
        <p:spPr>
          <a:xfrm>
            <a:off x="8353720" y="3540000"/>
            <a:ext cx="3338240" cy="1200000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224" name="t224"/>
          <p:cNvSpPr/>
          <p:nvPr/>
        </p:nvSpPr>
        <p:spPr>
          <a:xfrm>
            <a:off x="8493720" y="3660000"/>
            <a:ext cx="3058240" cy="10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email blocked after 5 tries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'not-an-email'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'not-an-email-' + Date.now()</a:t>
            </a:r>
          </a:p>
        </p:txBody>
      </p:sp>
      <p:sp>
        <p:nvSpPr>
          <p:cNvPr id="225" name="r225"/>
          <p:cNvSpPr/>
          <p:nvPr/>
        </p:nvSpPr>
        <p:spPr>
          <a:xfrm>
            <a:off x="320040" y="5090160"/>
            <a:ext cx="11551920" cy="11887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226" name="t226"/>
          <p:cNvSpPr/>
          <p:nvPr/>
        </p:nvSpPr>
        <p:spPr>
          <a:xfrm>
            <a:off x="640080" y="5090160"/>
            <a:ext cx="52000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Confirming a Feature During Development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After building a feature, run its tests to confirm it works -- before moving on.</a:t>
            </a:r>
          </a:p>
        </p:txBody>
      </p:sp>
      <p:sp>
        <p:nvSpPr>
          <p:cNvPr id="227" name="t227"/>
          <p:cNvSpPr/>
          <p:nvPr/>
        </p:nvSpPr>
        <p:spPr>
          <a:xfrm>
            <a:off x="6100000" y="5090160"/>
            <a:ext cx="55000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2D3EE"/>
                </a:solidFill>
                <a:latin typeface="Consolas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 err="1">
                <a:solidFill>
                  <a:srgbClr val="22D3EE"/>
                </a:solidFill>
                <a:latin typeface="Consolas"/>
                <a:ea typeface="Consolas" pitchFamily="34" charset="-122"/>
                <a:cs typeface="Consolas" pitchFamily="34" charset="-120"/>
              </a:rPr>
              <a:t>npx</a:t>
            </a:r>
            <a:r>
              <a:rPr lang="en-US" sz="1000" dirty="0">
                <a:solidFill>
                  <a:srgbClr val="22D3EE"/>
                </a:solidFill>
                <a:latin typeface="Consolas"/>
                <a:ea typeface="Consolas" pitchFamily="34" charset="-122"/>
                <a:cs typeface="Consolas" pitchFamily="34" charset="-120"/>
              </a:rPr>
              <a:t> playwright test login</a:t>
            </a:r>
          </a:p>
          <a:p>
            <a:pPr>
              <a:spcAft>
                <a:spcPts val="500"/>
              </a:spcAft>
            </a:pPr>
            <a:r>
              <a:rPr lang="en-US" sz="850">
                <a:solidFill>
                  <a:srgbClr val="94A3B8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run just this feature's tests in CLI</a:t>
            </a:r>
            <a:endParaRPr lang="en-US" sz="850">
              <a:solidFill>
                <a:srgbClr val="94A3B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22D3EE"/>
                </a:solidFill>
                <a:latin typeface="Consolas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 err="1">
                <a:solidFill>
                  <a:srgbClr val="22D3EE"/>
                </a:solidFill>
                <a:latin typeface="Consolas"/>
                <a:ea typeface="Consolas" pitchFamily="34" charset="-122"/>
                <a:cs typeface="Consolas" pitchFamily="34" charset="-120"/>
              </a:rPr>
              <a:t>npx</a:t>
            </a:r>
            <a:r>
              <a:rPr lang="en-US" sz="1000" dirty="0">
                <a:solidFill>
                  <a:srgbClr val="22D3EE"/>
                </a:solidFill>
                <a:latin typeface="Consolas"/>
                <a:ea typeface="Consolas" pitchFamily="34" charset="-122"/>
                <a:cs typeface="Consolas" pitchFamily="34" charset="-120"/>
              </a:rPr>
              <a:t> playwright test login --</a:t>
            </a:r>
            <a:r>
              <a:rPr lang="en-US" sz="1000" dirty="0" err="1">
                <a:solidFill>
                  <a:srgbClr val="22D3EE"/>
                </a:solidFill>
                <a:latin typeface="Consolas"/>
                <a:ea typeface="Consolas" pitchFamily="34" charset="-122"/>
                <a:cs typeface="Consolas" pitchFamily="34" charset="-120"/>
              </a:rPr>
              <a:t>ui</a:t>
            </a:r>
            <a:endParaRPr lang="en-US" sz="1000" dirty="0">
              <a:solidFill>
                <a:srgbClr val="22D3EE"/>
              </a:solidFill>
              <a:latin typeface="Consolas"/>
              <a:ea typeface="Consolas" pitchFamily="34" charset="-122"/>
              <a:cs typeface="Consolas" pitchFamily="34" charset="-120"/>
            </a:endParaRPr>
          </a:p>
          <a:p>
            <a:r>
              <a:rPr lang="en-US" sz="850">
                <a:solidFill>
                  <a:srgbClr val="94A3B8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watch it run, step by step in browser</a:t>
            </a:r>
            <a:endParaRPr lang="en-US" sz="850">
              <a:solidFill>
                <a:srgbClr val="94A3B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 Bar"/>
          <p:cNvSpPr/>
          <p:nvPr/>
        </p:nvSpPr>
        <p:spPr>
          <a:xfrm>
            <a:off x="0" y="0"/>
            <a:ext cx="12166600" cy="7747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Accent Strip"/>
          <p:cNvSpPr/>
          <p:nvPr/>
        </p:nvSpPr>
        <p:spPr>
          <a:xfrm>
            <a:off x="0" y="774700"/>
            <a:ext cx="121666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adge"/>
          <p:cNvSpPr/>
          <p:nvPr/>
        </p:nvSpPr>
        <p:spPr>
          <a:xfrm>
            <a:off x="342900" y="177800"/>
            <a:ext cx="1511300" cy="406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[MrMax]</a:t>
            </a:r>
          </a:p>
        </p:txBody>
      </p:sp>
      <p:sp>
        <p:nvSpPr>
          <p:cNvPr id="103" name="Title"/>
          <p:cNvSpPr/>
          <p:nvPr/>
        </p:nvSpPr>
        <p:spPr>
          <a:xfrm>
            <a:off x="1993900" y="0"/>
            <a:ext cx="7137400" cy="774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</a:rPr>
              <a:t>MrMax — AI Planning &amp; Documentation Automation</a:t>
            </a:r>
          </a:p>
        </p:txBody>
      </p:sp>
      <p:sp>
        <p:nvSpPr>
          <p:cNvPr id="104" name="AI Circle"/>
          <p:cNvSpPr/>
          <p:nvPr/>
        </p:nvSpPr>
        <p:spPr>
          <a:xfrm>
            <a:off x="10464800" y="88900"/>
            <a:ext cx="571500" cy="5715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05" name="Agents Box"/>
          <p:cNvSpPr/>
          <p:nvPr/>
        </p:nvSpPr>
        <p:spPr>
          <a:xfrm>
            <a:off x="11137900" y="177800"/>
            <a:ext cx="901700" cy="40640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</a:t>
            </a:r>
          </a:p>
        </p:txBody>
      </p:sp>
      <p:sp>
        <p:nvSpPr>
          <p:cNvPr id="106" name="Subtitle Band"/>
          <p:cNvSpPr/>
          <p:nvPr/>
        </p:nvSpPr>
        <p:spPr>
          <a:xfrm>
            <a:off x="317500" y="952500"/>
            <a:ext cx="11518900" cy="419100"/>
          </a:xfrm>
          <a:prstGeom prst="rect">
            <a:avLst/>
          </a:prstGeom>
          <a:solidFill>
            <a:srgbClr val="10B981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Subtitle Text"/>
          <p:cNvSpPr/>
          <p:nvPr/>
        </p:nvSpPr>
        <p:spPr>
          <a:xfrm>
            <a:off x="457200" y="952500"/>
            <a:ext cx="11341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200" b="1" i="1">
                <a:solidFill>
                  <a:srgbClr val="0D1B2A"/>
                </a:solidFill>
              </a:rPr>
              <a:t>Achievements of the Agentic Orchestrator — concrete impact of AI initiatives.</a:t>
            </a:r>
          </a:p>
        </p:txBody>
      </p:sp>
      <p:sp>
        <p:nvSpPr>
          <p:cNvPr id="108" name="Table Accent"/>
          <p:cNvSpPr/>
          <p:nvPr/>
        </p:nvSpPr>
        <p:spPr>
          <a:xfrm>
            <a:off x="1651000" y="1828800"/>
            <a:ext cx="88900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Page Number"/>
          <p:cNvSpPr/>
          <p:nvPr/>
        </p:nvSpPr>
        <p:spPr>
          <a:xfrm>
            <a:off x="11709400" y="6540500"/>
            <a:ext cx="27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21</a:t>
            </a:r>
          </a:p>
        </p:txBody>
      </p:sp>
      <p:graphicFrame>
        <p:nvGraphicFramePr>
          <p:cNvPr id="110" name="Achievements Table"/>
          <p:cNvGraphicFramePr/>
          <p:nvPr/>
        </p:nvGraphicFramePr>
        <p:xfrm>
          <a:off x="1651000" y="1905000"/>
          <a:ext cx="8890000" cy="416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137160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 marL="137160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After (with AI)</a:t>
                      </a:r>
                    </a:p>
                  </a:txBody>
                  <a:tcPr marL="137160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Time Saved</a:t>
                      </a:r>
                    </a:p>
                  </a:txBody>
                  <a:tcPr marL="137160" anchor="ctr"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>
                          <a:solidFill>
                            <a:srgbClr val="0D1B2A"/>
                          </a:solidFill>
                        </a:rPr>
                        <a:t>Requirement Analysis</a:t>
                      </a: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i="1">
                          <a:solidFill>
                            <a:srgbClr val="64748B"/>
                          </a:solidFill>
                        </a:rPr>
                        <a:t>4 – 6 hr</a:t>
                      </a: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rgbClr val="10B981"/>
                          </a:solidFill>
                        </a:rPr>
                        <a:t>45 – 60 min</a:t>
                      </a: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rgbClr val="0D1B2A"/>
                          </a:solidFill>
                        </a:rPr>
                        <a:t>~85%</a:t>
                      </a: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>
                          <a:solidFill>
                            <a:srgbClr val="0D1B2A"/>
                          </a:solidFill>
                        </a:rPr>
                        <a:t>SRS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i="1">
                          <a:solidFill>
                            <a:srgbClr val="64748B"/>
                          </a:solidFill>
                        </a:rPr>
                        <a:t>3 – 4 hr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rgbClr val="10B981"/>
                          </a:solidFill>
                        </a:rPr>
                        <a:t>20 – 30 min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rgbClr val="0D1B2A"/>
                          </a:solidFill>
                        </a:rPr>
                        <a:t>~87%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>
                          <a:solidFill>
                            <a:srgbClr val="0D1B2A"/>
                          </a:solidFill>
                        </a:rPr>
                        <a:t>WBS</a:t>
                      </a: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i="1">
                          <a:solidFill>
                            <a:srgbClr val="64748B"/>
                          </a:solidFill>
                        </a:rPr>
                        <a:t>2 – 3 hr</a:t>
                      </a: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rgbClr val="10B981"/>
                          </a:solidFill>
                        </a:rPr>
                        <a:t>30 min</a:t>
                      </a: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rgbClr val="0D1B2A"/>
                          </a:solidFill>
                        </a:rPr>
                        <a:t>~44%</a:t>
                      </a: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>
                          <a:solidFill>
                            <a:srgbClr val="0D1B2A"/>
                          </a:solidFill>
                        </a:rPr>
                        <a:t>BAT Excel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i="1">
                          <a:solidFill>
                            <a:srgbClr val="64748B"/>
                          </a:solidFill>
                        </a:rPr>
                        <a:t>2 – 3 hr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rgbClr val="10B981"/>
                          </a:solidFill>
                        </a:rPr>
                        <a:t>10 – 15 min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rgbClr val="0D1B2A"/>
                          </a:solidFill>
                        </a:rPr>
                        <a:t>~80%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>
                          <a:solidFill>
                            <a:srgbClr val="0D1B2A"/>
                          </a:solidFill>
                        </a:rPr>
                        <a:t>PR Notes</a:t>
                      </a: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i="1">
                          <a:solidFill>
                            <a:srgbClr val="64748B"/>
                          </a:solidFill>
                        </a:rPr>
                        <a:t>30 – 45 min</a:t>
                      </a: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rgbClr val="10B981"/>
                          </a:solidFill>
                        </a:rPr>
                        <a:t>5 min</a:t>
                      </a: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rgbClr val="0D1B2A"/>
                          </a:solidFill>
                        </a:rPr>
                        <a:t>~88%</a:t>
                      </a:r>
                    </a:p>
                  </a:txBody>
                  <a:tcPr marL="13716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3063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-640080"/>
            <a:ext cx="3474720" cy="347472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3108960" cy="384048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6" name="Text 4"/>
          <p:cNvSpPr/>
          <p:nvPr/>
        </p:nvSpPr>
        <p:spPr>
          <a:xfrm>
            <a:off x="502920" y="128016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 TARGET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Work Volume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Fiscal Year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913632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D3EE"/>
                </a:solidFill>
              </a:rPr>
              <a:t>Using the same process -- Requirement Analysis, Development, Testing -- to handle more work.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617720"/>
            <a:ext cx="2468880" cy="1097280"/>
          </a:xfrm>
          <a:prstGeom prst="rect">
            <a:avLst/>
          </a:prstGeom>
          <a:solidFill>
            <a:srgbClr val="1A2E45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46634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More CRs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5212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Handle More Requests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4617720"/>
            <a:ext cx="2468880" cy="1097280"/>
          </a:xfrm>
          <a:prstGeom prst="rect">
            <a:avLst/>
          </a:prstGeom>
          <a:solidFill>
            <a:srgbClr val="1A2E45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46634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Faster SRS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5212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Quicker Planning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4617720"/>
            <a:ext cx="2468880" cy="1097280"/>
          </a:xfrm>
          <a:prstGeom prst="rect">
            <a:avLst/>
          </a:prstGeom>
          <a:solidFill>
            <a:srgbClr val="1A2E45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46634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Full Coverage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5212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Complete Testing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61120" y="4617720"/>
            <a:ext cx="2468880" cy="1097280"/>
          </a:xfrm>
          <a:prstGeom prst="rect">
            <a:avLst/>
          </a:prstGeom>
          <a:solidFill>
            <a:srgbClr val="1A2E45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0" y="46634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FY Growth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961120" y="5212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More Work, Same Quality</a:t>
            </a:r>
            <a:endParaRPr lang="en-US" sz="10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9601200" y="2286000"/>
            <a:ext cx="2194560" cy="21945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D3286F-2E19-4802-F6DE-FD221CF5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EA59C8-D128-C49A-77C7-3C2485862F77}"/>
              </a:ext>
            </a:extLst>
          </p:cNvPr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6129FA-F39B-9CDF-4F1B-1C2CB4958566}"/>
              </a:ext>
            </a:extLst>
          </p:cNvPr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2CC913C-98F0-E82D-1FBA-29A77477920D}"/>
              </a:ext>
            </a:extLst>
          </p:cNvPr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93F553B-0BE4-7560-6937-C47B1ADB6FE0}"/>
              </a:ext>
            </a:extLst>
          </p:cNvPr>
          <p:cNvSpPr/>
          <p:nvPr/>
        </p:nvSpPr>
        <p:spPr>
          <a:xfrm>
            <a:off x="347472" y="182880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[BSE]</a:t>
            </a:r>
            <a:endParaRPr lang="en-US" sz="1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264A25-3E20-2608-E398-967A2D4364F7}"/>
              </a:ext>
            </a:extLst>
          </p:cNvPr>
          <p:cNvSpPr/>
          <p:nvPr/>
        </p:nvSpPr>
        <p:spPr>
          <a:xfrm>
            <a:off x="1993392" y="0"/>
            <a:ext cx="7132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FFFFFF"/>
                </a:solidFill>
              </a:rPr>
              <a:t>Current scenario</a:t>
            </a:r>
            <a:endParaRPr lang="en-US" sz="2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C023B9A-1FBD-B9B5-11D5-6C4260F267C6}"/>
              </a:ext>
            </a:extLst>
          </p:cNvPr>
          <p:cNvSpPr/>
          <p:nvPr/>
        </p:nvSpPr>
        <p:spPr>
          <a:xfrm>
            <a:off x="10469880" y="91440"/>
            <a:ext cx="566928" cy="566928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CFE0EF-A532-245C-39C4-D520AC4AE7F1}"/>
              </a:ext>
            </a:extLst>
          </p:cNvPr>
          <p:cNvSpPr/>
          <p:nvPr/>
        </p:nvSpPr>
        <p:spPr>
          <a:xfrm>
            <a:off x="10469880" y="91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153399F-CD1A-1C67-ED4F-E852AD04DDA6}"/>
              </a:ext>
            </a:extLst>
          </p:cNvPr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solidFill>
            <a:srgbClr val="1A2E45"/>
          </a:solidFill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05E777A-1561-6AA4-DD16-D3E8D7A87CBA}"/>
              </a:ext>
            </a:extLst>
          </p:cNvPr>
          <p:cNvSpPr/>
          <p:nvPr/>
        </p:nvSpPr>
        <p:spPr>
          <a:xfrm>
            <a:off x="11137392" y="182880"/>
            <a:ext cx="896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248081B-EFC0-1064-DE39-5930CEA7D6ED}"/>
              </a:ext>
            </a:extLst>
          </p:cNvPr>
          <p:cNvSpPr/>
          <p:nvPr/>
        </p:nvSpPr>
        <p:spPr>
          <a:xfrm>
            <a:off x="320040" y="950976"/>
            <a:ext cx="11521440" cy="420624"/>
          </a:xfrm>
          <a:prstGeom prst="rect">
            <a:avLst/>
          </a:prstGeom>
          <a:solidFill>
            <a:srgbClr val="10B981">
              <a:alpha val="12000"/>
            </a:srgbClr>
          </a:solidFill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695E57F-9CA4-3629-9783-640402F18814}"/>
              </a:ext>
            </a:extLst>
          </p:cNvPr>
          <p:cNvSpPr/>
          <p:nvPr/>
        </p:nvSpPr>
        <p:spPr>
          <a:xfrm>
            <a:off x="457200" y="950976"/>
            <a:ext cx="11338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2A"/>
                </a:solidFill>
              </a:rPr>
              <a:t>Three AI agents work together to build and maintain the tests -- from a plan to a passing suite.</a:t>
            </a:r>
            <a:endParaRPr lang="en-US" sz="1200" dirty="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CF293F2E-5165-27E3-8896-8F3A142157B5}"/>
              </a:ext>
            </a:extLst>
          </p:cNvPr>
          <p:cNvSpPr/>
          <p:nvPr/>
        </p:nvSpPr>
        <p:spPr>
          <a:xfrm>
            <a:off x="11704320" y="6537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20</a:t>
            </a:r>
            <a:endParaRPr lang="en-US" sz="900" dirty="0"/>
          </a:p>
        </p:txBody>
      </p:sp>
      <p:sp>
        <p:nvSpPr>
          <p:cNvPr id="201" name="r201">
            <a:extLst>
              <a:ext uri="{FF2B5EF4-FFF2-40B4-BE49-F238E27FC236}">
                <a16:creationId xmlns:a16="http://schemas.microsoft.com/office/drawing/2014/main" id="{C5D3AD17-E3FE-0A75-F9AC-DC17CE55BEEA}"/>
              </a:ext>
            </a:extLst>
          </p:cNvPr>
          <p:cNvSpPr/>
          <p:nvPr/>
        </p:nvSpPr>
        <p:spPr>
          <a:xfrm>
            <a:off x="320040" y="1481328"/>
            <a:ext cx="3698240" cy="3352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2" name="r202">
            <a:extLst>
              <a:ext uri="{FF2B5EF4-FFF2-40B4-BE49-F238E27FC236}">
                <a16:creationId xmlns:a16="http://schemas.microsoft.com/office/drawing/2014/main" id="{F96A36A1-188B-C2B1-5E03-1DD6E1B4AEF7}"/>
              </a:ext>
            </a:extLst>
          </p:cNvPr>
          <p:cNvSpPr/>
          <p:nvPr/>
        </p:nvSpPr>
        <p:spPr>
          <a:xfrm>
            <a:off x="320040" y="1481328"/>
            <a:ext cx="369824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03" name="t203">
            <a:extLst>
              <a:ext uri="{FF2B5EF4-FFF2-40B4-BE49-F238E27FC236}">
                <a16:creationId xmlns:a16="http://schemas.microsoft.com/office/drawing/2014/main" id="{A1E47AC3-FFB1-2DD6-0DBD-799331D2181E}"/>
              </a:ext>
            </a:extLst>
          </p:cNvPr>
          <p:cNvSpPr/>
          <p:nvPr/>
        </p:nvSpPr>
        <p:spPr>
          <a:xfrm>
            <a:off x="580040" y="1600000"/>
            <a:ext cx="3178240" cy="3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D1B2A"/>
                </a:solidFill>
              </a:rPr>
              <a:t>1. What's going RIGHT</a:t>
            </a:r>
            <a:endParaRPr lang="en-US" sz="1400" b="1" dirty="0">
              <a:solidFill>
                <a:srgbClr val="0D1B2A"/>
              </a:solidFill>
            </a:endParaRPr>
          </a:p>
        </p:txBody>
      </p:sp>
      <p:sp>
        <p:nvSpPr>
          <p:cNvPr id="204" name="t204">
            <a:extLst>
              <a:ext uri="{FF2B5EF4-FFF2-40B4-BE49-F238E27FC236}">
                <a16:creationId xmlns:a16="http://schemas.microsoft.com/office/drawing/2014/main" id="{791883AE-0934-9142-64AA-9EE06979967A}"/>
              </a:ext>
            </a:extLst>
          </p:cNvPr>
          <p:cNvSpPr/>
          <p:nvPr/>
        </p:nvSpPr>
        <p:spPr>
          <a:xfrm>
            <a:off x="580040" y="1950972"/>
            <a:ext cx="3178240" cy="2215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AutoNum type="arabicPeriod"/>
            </a:pPr>
            <a:r>
              <a:rPr lang="en-US" sz="1100" b="1">
                <a:solidFill>
                  <a:srgbClr val="10B981"/>
                </a:solidFill>
                <a:ea typeface="Calibri"/>
                <a:cs typeface="Calibri"/>
              </a:rPr>
              <a:t>Quick Response</a:t>
            </a:r>
          </a:p>
          <a:p>
            <a:pPr marL="228600" indent="-228600">
              <a:buAutoNum type="arabicPeriod"/>
            </a:pPr>
            <a:r>
              <a:rPr lang="en-US" sz="1100" b="1">
                <a:solidFill>
                  <a:srgbClr val="10B981"/>
                </a:solidFill>
                <a:ea typeface="Calibri"/>
                <a:cs typeface="Calibri"/>
              </a:rPr>
              <a:t>Feature verification</a:t>
            </a:r>
            <a:endParaRPr lang="en-US" sz="1100" b="1" dirty="0">
              <a:solidFill>
                <a:srgbClr val="10B981"/>
              </a:solidFill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US" sz="1100" b="1">
                <a:solidFill>
                  <a:srgbClr val="10B981"/>
                </a:solidFill>
                <a:ea typeface="Calibri"/>
                <a:cs typeface="Calibri"/>
              </a:rPr>
              <a:t>Effective Feature Demo meeting</a:t>
            </a:r>
            <a:endParaRPr lang="en-US" sz="1100" b="1" dirty="0">
              <a:solidFill>
                <a:srgbClr val="10B981"/>
              </a:solidFill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endParaRPr lang="en-US" sz="1100" b="1" dirty="0">
              <a:solidFill>
                <a:srgbClr val="10B981"/>
              </a:solidFill>
              <a:ea typeface="Calibri"/>
              <a:cs typeface="Calibri"/>
            </a:endParaRPr>
          </a:p>
        </p:txBody>
      </p:sp>
      <p:sp>
        <p:nvSpPr>
          <p:cNvPr id="205" name="t205">
            <a:extLst>
              <a:ext uri="{FF2B5EF4-FFF2-40B4-BE49-F238E27FC236}">
                <a16:creationId xmlns:a16="http://schemas.microsoft.com/office/drawing/2014/main" id="{CF81B3E5-9FD9-CB32-00FA-5BBEB97C7FD0}"/>
              </a:ext>
            </a:extLst>
          </p:cNvPr>
          <p:cNvSpPr/>
          <p:nvPr/>
        </p:nvSpPr>
        <p:spPr>
          <a:xfrm>
            <a:off x="580040" y="2330000"/>
            <a:ext cx="3178240" cy="9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endParaRPr lang="en-US" sz="1050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209" name="r209">
            <a:extLst>
              <a:ext uri="{FF2B5EF4-FFF2-40B4-BE49-F238E27FC236}">
                <a16:creationId xmlns:a16="http://schemas.microsoft.com/office/drawing/2014/main" id="{BCEA3DA8-6E41-930A-C165-3EA27C2CEAEE}"/>
              </a:ext>
            </a:extLst>
          </p:cNvPr>
          <p:cNvSpPr/>
          <p:nvPr/>
        </p:nvSpPr>
        <p:spPr>
          <a:xfrm>
            <a:off x="4246880" y="1481328"/>
            <a:ext cx="3698240" cy="3352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0" name="r210">
            <a:extLst>
              <a:ext uri="{FF2B5EF4-FFF2-40B4-BE49-F238E27FC236}">
                <a16:creationId xmlns:a16="http://schemas.microsoft.com/office/drawing/2014/main" id="{65FCA6E9-9428-FC89-0DB1-12A8159ED7C1}"/>
              </a:ext>
            </a:extLst>
          </p:cNvPr>
          <p:cNvSpPr/>
          <p:nvPr/>
        </p:nvSpPr>
        <p:spPr>
          <a:xfrm>
            <a:off x="4246880" y="1481328"/>
            <a:ext cx="369824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1" name="t211">
            <a:extLst>
              <a:ext uri="{FF2B5EF4-FFF2-40B4-BE49-F238E27FC236}">
                <a16:creationId xmlns:a16="http://schemas.microsoft.com/office/drawing/2014/main" id="{6D1D4E1A-1522-3F1E-5417-B582A5425152}"/>
              </a:ext>
            </a:extLst>
          </p:cNvPr>
          <p:cNvSpPr/>
          <p:nvPr/>
        </p:nvSpPr>
        <p:spPr>
          <a:xfrm>
            <a:off x="4506880" y="1600000"/>
            <a:ext cx="3178240" cy="3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D1B2A"/>
                </a:solidFill>
              </a:rPr>
              <a:t>2. Improvement Points</a:t>
            </a:r>
            <a:endParaRPr lang="en-US" sz="1400" b="1" dirty="0">
              <a:solidFill>
                <a:srgbClr val="0D1B2A"/>
              </a:solidFill>
            </a:endParaRPr>
          </a:p>
        </p:txBody>
      </p:sp>
      <p:sp>
        <p:nvSpPr>
          <p:cNvPr id="212" name="t212">
            <a:extLst>
              <a:ext uri="{FF2B5EF4-FFF2-40B4-BE49-F238E27FC236}">
                <a16:creationId xmlns:a16="http://schemas.microsoft.com/office/drawing/2014/main" id="{F44882D6-B7E7-A195-0EA5-E37062791CE0}"/>
              </a:ext>
            </a:extLst>
          </p:cNvPr>
          <p:cNvSpPr/>
          <p:nvPr/>
        </p:nvSpPr>
        <p:spPr>
          <a:xfrm>
            <a:off x="4506880" y="1958229"/>
            <a:ext cx="3178240" cy="22013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AutoNum type="arabicPeriod"/>
            </a:pPr>
            <a:r>
              <a:rPr lang="en-US" sz="1100" b="1">
                <a:solidFill>
                  <a:srgbClr val="10B981"/>
                </a:solidFill>
                <a:ea typeface="Calibri"/>
                <a:cs typeface="Calibri"/>
              </a:rPr>
              <a:t>Structured requirements</a:t>
            </a:r>
          </a:p>
          <a:p>
            <a:pPr marL="228600" indent="-228600">
              <a:buAutoNum type="arabicPeriod"/>
            </a:pPr>
            <a:r>
              <a:rPr lang="en-US" sz="1100" b="1">
                <a:solidFill>
                  <a:srgbClr val="10B981"/>
                </a:solidFill>
                <a:ea typeface="Calibri"/>
                <a:cs typeface="Calibri"/>
              </a:rPr>
              <a:t>Monthly Review Meeting</a:t>
            </a:r>
            <a:endParaRPr lang="en-US" sz="1100" b="1" dirty="0">
              <a:solidFill>
                <a:srgbClr val="10B981"/>
              </a:solidFill>
              <a:ea typeface="Calibri"/>
              <a:cs typeface="Calibri"/>
            </a:endParaRPr>
          </a:p>
        </p:txBody>
      </p:sp>
      <p:sp>
        <p:nvSpPr>
          <p:cNvPr id="217" name="r217">
            <a:extLst>
              <a:ext uri="{FF2B5EF4-FFF2-40B4-BE49-F238E27FC236}">
                <a16:creationId xmlns:a16="http://schemas.microsoft.com/office/drawing/2014/main" id="{145A66F3-9A78-E0E2-2D3D-B1AA67351682}"/>
              </a:ext>
            </a:extLst>
          </p:cNvPr>
          <p:cNvSpPr/>
          <p:nvPr/>
        </p:nvSpPr>
        <p:spPr>
          <a:xfrm>
            <a:off x="8173720" y="1481328"/>
            <a:ext cx="3698240" cy="3352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8" name="r218">
            <a:extLst>
              <a:ext uri="{FF2B5EF4-FFF2-40B4-BE49-F238E27FC236}">
                <a16:creationId xmlns:a16="http://schemas.microsoft.com/office/drawing/2014/main" id="{0661F046-FC9A-3319-4316-288C7A599EE3}"/>
              </a:ext>
            </a:extLst>
          </p:cNvPr>
          <p:cNvSpPr/>
          <p:nvPr/>
        </p:nvSpPr>
        <p:spPr>
          <a:xfrm>
            <a:off x="8173720" y="1481328"/>
            <a:ext cx="369824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9" name="t219">
            <a:extLst>
              <a:ext uri="{FF2B5EF4-FFF2-40B4-BE49-F238E27FC236}">
                <a16:creationId xmlns:a16="http://schemas.microsoft.com/office/drawing/2014/main" id="{AFB71385-2DD2-CCD5-36D2-F8C86E762702}"/>
              </a:ext>
            </a:extLst>
          </p:cNvPr>
          <p:cNvSpPr/>
          <p:nvPr/>
        </p:nvSpPr>
        <p:spPr>
          <a:xfrm>
            <a:off x="8433720" y="1600000"/>
            <a:ext cx="3178240" cy="3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2A"/>
                </a:solidFill>
              </a:rPr>
              <a:t>3. Risks</a:t>
            </a:r>
            <a:endParaRPr lang="en-US" sz="1400" b="1" dirty="0">
              <a:solidFill>
                <a:srgbClr val="0D1B2A"/>
              </a:solidFill>
            </a:endParaRPr>
          </a:p>
        </p:txBody>
      </p:sp>
      <p:sp>
        <p:nvSpPr>
          <p:cNvPr id="220" name="t220">
            <a:extLst>
              <a:ext uri="{FF2B5EF4-FFF2-40B4-BE49-F238E27FC236}">
                <a16:creationId xmlns:a16="http://schemas.microsoft.com/office/drawing/2014/main" id="{A31A0880-298C-BFB4-12D4-BDD3DFDB5BB8}"/>
              </a:ext>
            </a:extLst>
          </p:cNvPr>
          <p:cNvSpPr/>
          <p:nvPr/>
        </p:nvSpPr>
        <p:spPr>
          <a:xfrm>
            <a:off x="8433720" y="1965486"/>
            <a:ext cx="3156469" cy="2186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10B981"/>
                </a:solidFill>
              </a:rPr>
              <a:t>F1. Frequent CR during development</a:t>
            </a:r>
            <a:endParaRPr lang="en-US" sz="1100" b="1" dirty="0">
              <a:solidFill>
                <a:srgbClr val="10B9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6857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AD0DF-1403-DBAF-3CDC-66141063E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E9FA95-7996-6149-066C-493CCFA4B8B2}"/>
              </a:ext>
            </a:extLst>
          </p:cNvPr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122F47E-E629-F07B-1261-B0CEE0EE7880}"/>
              </a:ext>
            </a:extLst>
          </p:cNvPr>
          <p:cNvSpPr/>
          <p:nvPr/>
        </p:nvSpPr>
        <p:spPr>
          <a:xfrm>
            <a:off x="914400" y="2166982"/>
            <a:ext cx="10332720" cy="25254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4000" i="1">
                <a:solidFill>
                  <a:srgbClr val="22D3EE"/>
                </a:solidFill>
              </a:rPr>
              <a:t>Thank You</a:t>
            </a:r>
            <a:endParaRPr lang="en-US" sz="4000">
              <a:ea typeface="Calibri"/>
              <a:cs typeface="Calibri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B503DA9-C855-3202-E2B2-7F350396B6D4}"/>
              </a:ext>
            </a:extLst>
          </p:cNvPr>
          <p:cNvSpPr/>
          <p:nvPr/>
        </p:nvSpPr>
        <p:spPr>
          <a:xfrm>
            <a:off x="0" y="6080760"/>
            <a:ext cx="12161520" cy="658368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FA4CA17-C0B0-C5C5-15BC-3E1BA81FF7DC}"/>
              </a:ext>
            </a:extLst>
          </p:cNvPr>
          <p:cNvSpPr/>
          <p:nvPr/>
        </p:nvSpPr>
        <p:spPr>
          <a:xfrm>
            <a:off x="0" y="6080760"/>
            <a:ext cx="121615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Solution Unit Contact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37498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00B7886-3B20-48B6-961E-45BDE7248281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9417</Words>
  <Application>Microsoft Office PowerPoint</Application>
  <PresentationFormat>Widescreen</PresentationFormat>
  <Paragraphs>607</Paragraphs>
  <Slides>24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AI Orchestrator - Complete Solution Catalog</dc:title>
  <dc:subject>PptxGenJS Presentation</dc:subject>
  <dc:creator>PptxGenJS</dc:creator>
  <cp:lastModifiedBy>bjitltd</cp:lastModifiedBy>
  <cp:revision>175</cp:revision>
  <dcterms:created xsi:type="dcterms:W3CDTF">2026-07-13T05:53:58Z</dcterms:created>
  <dcterms:modified xsi:type="dcterms:W3CDTF">2026-07-17T05:56:06Z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56EA3AA27571A362767D546AE742C312_42</vt:lpwstr>
  </property>
  <property fmtid="{D5CDD505-2E9C-101B-9397-08002B2CF9AE}" pid="3" name="KSOProductBuildVer">
    <vt:lpwstr>1033-12.1.26030.26030</vt:lpwstr>
  </property>
</Properties>
</file>